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2"/>
  </p:notesMasterIdLst>
  <p:handoutMasterIdLst>
    <p:handoutMasterId r:id="rId23"/>
  </p:handoutMasterIdLst>
  <p:sldIdLst>
    <p:sldId id="256" r:id="rId5"/>
    <p:sldId id="277" r:id="rId6"/>
    <p:sldId id="278" r:id="rId7"/>
    <p:sldId id="288" r:id="rId8"/>
    <p:sldId id="293" r:id="rId9"/>
    <p:sldId id="295" r:id="rId10"/>
    <p:sldId id="294" r:id="rId11"/>
    <p:sldId id="297" r:id="rId12"/>
    <p:sldId id="296" r:id="rId13"/>
    <p:sldId id="305" r:id="rId14"/>
    <p:sldId id="306" r:id="rId15"/>
    <p:sldId id="298" r:id="rId16"/>
    <p:sldId id="299" r:id="rId17"/>
    <p:sldId id="300" r:id="rId18"/>
    <p:sldId id="301" r:id="rId19"/>
    <p:sldId id="304" r:id="rId20"/>
    <p:sldId id="28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28" userDrawn="1">
          <p15:clr>
            <a:srgbClr val="A4A3A4"/>
          </p15:clr>
        </p15:guide>
        <p15:guide id="2" pos="3864" userDrawn="1">
          <p15:clr>
            <a:srgbClr val="A4A3A4"/>
          </p15:clr>
        </p15:guide>
        <p15:guide id="3" pos="7512" userDrawn="1">
          <p15:clr>
            <a:srgbClr val="A4A3A4"/>
          </p15:clr>
        </p15:guide>
        <p15:guide id="4" pos="144" userDrawn="1">
          <p15:clr>
            <a:srgbClr val="A4A3A4"/>
          </p15:clr>
        </p15:guide>
        <p15:guide id="5" orient="horz" pos="624" userDrawn="1">
          <p15:clr>
            <a:srgbClr val="A4A3A4"/>
          </p15:clr>
        </p15:guide>
        <p15:guide id="6" orient="horz" pos="40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2121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651" autoAdjust="0"/>
    <p:restoredTop sz="94652" autoAdjust="0"/>
  </p:normalViewPr>
  <p:slideViewPr>
    <p:cSldViewPr snapToGrid="0" showGuides="1">
      <p:cViewPr varScale="1">
        <p:scale>
          <a:sx n="98" d="100"/>
          <a:sy n="98" d="100"/>
        </p:scale>
        <p:origin x="264" y="101"/>
      </p:cViewPr>
      <p:guideLst>
        <p:guide orient="horz" pos="2328"/>
        <p:guide pos="3864"/>
        <p:guide pos="7512"/>
        <p:guide pos="144"/>
        <p:guide orient="horz" pos="624"/>
        <p:guide orient="horz" pos="4056"/>
      </p:guideLst>
    </p:cSldViewPr>
  </p:slideViewPr>
  <p:notesTextViewPr>
    <p:cViewPr>
      <p:scale>
        <a:sx n="1" d="1"/>
        <a:sy n="1" d="1"/>
      </p:scale>
      <p:origin x="0" y="0"/>
    </p:cViewPr>
  </p:notesTextViewPr>
  <p:notesViewPr>
    <p:cSldViewPr snapToGrid="0">
      <p:cViewPr varScale="1">
        <p:scale>
          <a:sx n="68" d="100"/>
          <a:sy n="68" d="100"/>
        </p:scale>
        <p:origin x="3288"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465D3EB-CBDD-4100-83B7-3BFE0A8F411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C72B4595-A79D-4567-9FE1-DCF31A42B3D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E5C0719-993D-42E1-80ED-8F01056F36C2}" type="datetimeFigureOut">
              <a:rPr lang="en-US" smtClean="0"/>
              <a:t>10/13/2026</a:t>
            </a:fld>
            <a:endParaRPr lang="en-US" dirty="0"/>
          </a:p>
        </p:txBody>
      </p:sp>
      <p:sp>
        <p:nvSpPr>
          <p:cNvPr id="4" name="Footer Placeholder 3">
            <a:extLst>
              <a:ext uri="{FF2B5EF4-FFF2-40B4-BE49-F238E27FC236}">
                <a16:creationId xmlns:a16="http://schemas.microsoft.com/office/drawing/2014/main" id="{850E452F-E862-4273-987C-980229E5320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C3EE394C-9AD7-48EA-AB0F-18032A3E097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00421AD-3AC0-48CB-8727-BB447FD2264E}" type="slidenum">
              <a:rPr lang="en-US" smtClean="0"/>
              <a:t>‹#›</a:t>
            </a:fld>
            <a:endParaRPr lang="en-US" dirty="0"/>
          </a:p>
        </p:txBody>
      </p:sp>
    </p:spTree>
    <p:extLst>
      <p:ext uri="{BB962C8B-B14F-4D97-AF65-F5344CB8AC3E}">
        <p14:creationId xmlns:p14="http://schemas.microsoft.com/office/powerpoint/2010/main" val="326815982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D3BC9C-6C58-464F-B94E-FD73C5FB016E}" type="datetimeFigureOut">
              <a:rPr lang="en-US" smtClean="0"/>
              <a:t>10/13/2026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60DC36-8EFA-4378-9855-E019C55AC472}" type="slidenum">
              <a:rPr lang="en-US" smtClean="0"/>
              <a:t>‹#›</a:t>
            </a:fld>
            <a:endParaRPr lang="en-US" dirty="0"/>
          </a:p>
        </p:txBody>
      </p:sp>
    </p:spTree>
    <p:extLst>
      <p:ext uri="{BB962C8B-B14F-4D97-AF65-F5344CB8AC3E}">
        <p14:creationId xmlns:p14="http://schemas.microsoft.com/office/powerpoint/2010/main" val="18770536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1</a:t>
            </a:fld>
            <a:endParaRPr lang="en-US" dirty="0"/>
          </a:p>
        </p:txBody>
      </p:sp>
    </p:spTree>
    <p:extLst>
      <p:ext uri="{BB962C8B-B14F-4D97-AF65-F5344CB8AC3E}">
        <p14:creationId xmlns:p14="http://schemas.microsoft.com/office/powerpoint/2010/main" val="17735278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2</a:t>
            </a:fld>
            <a:endParaRPr lang="en-US" dirty="0"/>
          </a:p>
        </p:txBody>
      </p:sp>
    </p:spTree>
    <p:extLst>
      <p:ext uri="{BB962C8B-B14F-4D97-AF65-F5344CB8AC3E}">
        <p14:creationId xmlns:p14="http://schemas.microsoft.com/office/powerpoint/2010/main" val="22004710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3</a:t>
            </a:fld>
            <a:endParaRPr lang="en-US" dirty="0"/>
          </a:p>
        </p:txBody>
      </p:sp>
    </p:spTree>
    <p:extLst>
      <p:ext uri="{BB962C8B-B14F-4D97-AF65-F5344CB8AC3E}">
        <p14:creationId xmlns:p14="http://schemas.microsoft.com/office/powerpoint/2010/main" val="17721518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4</a:t>
            </a:fld>
            <a:endParaRPr lang="en-US" dirty="0"/>
          </a:p>
        </p:txBody>
      </p:sp>
    </p:spTree>
    <p:extLst>
      <p:ext uri="{BB962C8B-B14F-4D97-AF65-F5344CB8AC3E}">
        <p14:creationId xmlns:p14="http://schemas.microsoft.com/office/powerpoint/2010/main" val="4660843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5</a:t>
            </a:fld>
            <a:endParaRPr lang="en-US" dirty="0"/>
          </a:p>
        </p:txBody>
      </p:sp>
    </p:spTree>
    <p:extLst>
      <p:ext uri="{BB962C8B-B14F-4D97-AF65-F5344CB8AC3E}">
        <p14:creationId xmlns:p14="http://schemas.microsoft.com/office/powerpoint/2010/main" val="2562401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6</a:t>
            </a:fld>
            <a:endParaRPr lang="en-US" dirty="0"/>
          </a:p>
        </p:txBody>
      </p:sp>
    </p:spTree>
    <p:extLst>
      <p:ext uri="{BB962C8B-B14F-4D97-AF65-F5344CB8AC3E}">
        <p14:creationId xmlns:p14="http://schemas.microsoft.com/office/powerpoint/2010/main" val="16638954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7</a:t>
            </a:fld>
            <a:endParaRPr lang="en-US" dirty="0"/>
          </a:p>
        </p:txBody>
      </p:sp>
    </p:spTree>
    <p:extLst>
      <p:ext uri="{BB962C8B-B14F-4D97-AF65-F5344CB8AC3E}">
        <p14:creationId xmlns:p14="http://schemas.microsoft.com/office/powerpoint/2010/main" val="7337848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8</a:t>
            </a:fld>
            <a:endParaRPr lang="en-US" dirty="0"/>
          </a:p>
        </p:txBody>
      </p:sp>
    </p:spTree>
    <p:extLst>
      <p:ext uri="{BB962C8B-B14F-4D97-AF65-F5344CB8AC3E}">
        <p14:creationId xmlns:p14="http://schemas.microsoft.com/office/powerpoint/2010/main" val="14045258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9</a:t>
            </a:fld>
            <a:endParaRPr lang="en-US" dirty="0"/>
          </a:p>
        </p:txBody>
      </p:sp>
    </p:spTree>
    <p:extLst>
      <p:ext uri="{BB962C8B-B14F-4D97-AF65-F5344CB8AC3E}">
        <p14:creationId xmlns:p14="http://schemas.microsoft.com/office/powerpoint/2010/main" val="7366429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10</a:t>
            </a:fld>
            <a:endParaRPr lang="en-US" dirty="0"/>
          </a:p>
        </p:txBody>
      </p:sp>
    </p:spTree>
    <p:extLst>
      <p:ext uri="{BB962C8B-B14F-4D97-AF65-F5344CB8AC3E}">
        <p14:creationId xmlns:p14="http://schemas.microsoft.com/office/powerpoint/2010/main" val="7673332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11</a:t>
            </a:fld>
            <a:endParaRPr lang="en-US" dirty="0"/>
          </a:p>
        </p:txBody>
      </p:sp>
    </p:spTree>
    <p:extLst>
      <p:ext uri="{BB962C8B-B14F-4D97-AF65-F5344CB8AC3E}">
        <p14:creationId xmlns:p14="http://schemas.microsoft.com/office/powerpoint/2010/main" val="18834360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12</a:t>
            </a:fld>
            <a:endParaRPr lang="en-US" dirty="0"/>
          </a:p>
        </p:txBody>
      </p:sp>
    </p:spTree>
    <p:extLst>
      <p:ext uri="{BB962C8B-B14F-4D97-AF65-F5344CB8AC3E}">
        <p14:creationId xmlns:p14="http://schemas.microsoft.com/office/powerpoint/2010/main" val="2499601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13</a:t>
            </a:fld>
            <a:endParaRPr lang="en-US" dirty="0"/>
          </a:p>
        </p:txBody>
      </p:sp>
    </p:spTree>
    <p:extLst>
      <p:ext uri="{BB962C8B-B14F-4D97-AF65-F5344CB8AC3E}">
        <p14:creationId xmlns:p14="http://schemas.microsoft.com/office/powerpoint/2010/main" val="8915066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14</a:t>
            </a:fld>
            <a:endParaRPr lang="en-US" dirty="0"/>
          </a:p>
        </p:txBody>
      </p:sp>
    </p:spTree>
    <p:extLst>
      <p:ext uri="{BB962C8B-B14F-4D97-AF65-F5344CB8AC3E}">
        <p14:creationId xmlns:p14="http://schemas.microsoft.com/office/powerpoint/2010/main" val="28992435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15</a:t>
            </a:fld>
            <a:endParaRPr lang="en-US" dirty="0"/>
          </a:p>
        </p:txBody>
      </p:sp>
    </p:spTree>
    <p:extLst>
      <p:ext uri="{BB962C8B-B14F-4D97-AF65-F5344CB8AC3E}">
        <p14:creationId xmlns:p14="http://schemas.microsoft.com/office/powerpoint/2010/main" val="32878830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16</a:t>
            </a:fld>
            <a:endParaRPr lang="en-US" dirty="0"/>
          </a:p>
        </p:txBody>
      </p:sp>
    </p:spTree>
    <p:extLst>
      <p:ext uri="{BB962C8B-B14F-4D97-AF65-F5344CB8AC3E}">
        <p14:creationId xmlns:p14="http://schemas.microsoft.com/office/powerpoint/2010/main" val="11190480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17</a:t>
            </a:fld>
            <a:endParaRPr lang="en-US" dirty="0"/>
          </a:p>
        </p:txBody>
      </p:sp>
    </p:spTree>
    <p:extLst>
      <p:ext uri="{BB962C8B-B14F-4D97-AF65-F5344CB8AC3E}">
        <p14:creationId xmlns:p14="http://schemas.microsoft.com/office/powerpoint/2010/main" val="3967918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F864C-44C4-4000-952D-01F31BFB3FD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1392E06-C914-467E-9D4F-BD763EDA2DD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FBEFBAF-82E9-49AD-B2CF-7D154E024431}"/>
              </a:ext>
            </a:extLst>
          </p:cNvPr>
          <p:cNvSpPr>
            <a:spLocks noGrp="1"/>
          </p:cNvSpPr>
          <p:nvPr>
            <p:ph type="dt" sz="half" idx="10"/>
          </p:nvPr>
        </p:nvSpPr>
        <p:spPr/>
        <p:txBody>
          <a:bodyPr/>
          <a:lstStyle/>
          <a:p>
            <a:fld id="{40DA1498-92C7-4E4B-8045-C9195F453964}" type="datetimeFigureOut">
              <a:rPr lang="en-US" smtClean="0"/>
              <a:t>10/13/2026</a:t>
            </a:fld>
            <a:endParaRPr lang="en-US" dirty="0"/>
          </a:p>
        </p:txBody>
      </p:sp>
      <p:sp>
        <p:nvSpPr>
          <p:cNvPr id="5" name="Footer Placeholder 4">
            <a:extLst>
              <a:ext uri="{FF2B5EF4-FFF2-40B4-BE49-F238E27FC236}">
                <a16:creationId xmlns:a16="http://schemas.microsoft.com/office/drawing/2014/main" id="{5AD8006A-94B1-44F7-972D-56767EDE3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5E7BFAB-D84B-45E1-A0BD-2516AC14F8AC}"/>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485646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07FBE-061D-452C-A8A6-213063CFD67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33A3535-1708-499D-B5D2-7D8F9FD182D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B06063-A112-49AB-80C8-504D99ECD771}"/>
              </a:ext>
            </a:extLst>
          </p:cNvPr>
          <p:cNvSpPr>
            <a:spLocks noGrp="1"/>
          </p:cNvSpPr>
          <p:nvPr>
            <p:ph type="dt" sz="half" idx="10"/>
          </p:nvPr>
        </p:nvSpPr>
        <p:spPr/>
        <p:txBody>
          <a:bodyPr/>
          <a:lstStyle/>
          <a:p>
            <a:fld id="{40DA1498-92C7-4E4B-8045-C9195F453964}" type="datetimeFigureOut">
              <a:rPr lang="en-US" smtClean="0"/>
              <a:t>10/13/2026</a:t>
            </a:fld>
            <a:endParaRPr lang="en-US" dirty="0"/>
          </a:p>
        </p:txBody>
      </p:sp>
      <p:sp>
        <p:nvSpPr>
          <p:cNvPr id="5" name="Footer Placeholder 4">
            <a:extLst>
              <a:ext uri="{FF2B5EF4-FFF2-40B4-BE49-F238E27FC236}">
                <a16:creationId xmlns:a16="http://schemas.microsoft.com/office/drawing/2014/main" id="{6344C8D5-F898-4318-A76D-1FBD8732919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976EC76-E8E8-4FFA-B671-7FA2F3EF5DEF}"/>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2789287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2CABF-E3C1-431A-A69C-D4881CC43F0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5584226-69DA-4211-B2C8-C29FD05A4A6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5FF82DB-B518-40FD-8A66-44B874C055FB}"/>
              </a:ext>
            </a:extLst>
          </p:cNvPr>
          <p:cNvSpPr>
            <a:spLocks noGrp="1"/>
          </p:cNvSpPr>
          <p:nvPr>
            <p:ph type="dt" sz="half" idx="10"/>
          </p:nvPr>
        </p:nvSpPr>
        <p:spPr/>
        <p:txBody>
          <a:bodyPr/>
          <a:lstStyle/>
          <a:p>
            <a:fld id="{40DA1498-92C7-4E4B-8045-C9195F453964}" type="datetimeFigureOut">
              <a:rPr lang="en-US" smtClean="0"/>
              <a:t>10/13/2026</a:t>
            </a:fld>
            <a:endParaRPr lang="en-US" dirty="0"/>
          </a:p>
        </p:txBody>
      </p:sp>
      <p:sp>
        <p:nvSpPr>
          <p:cNvPr id="5" name="Footer Placeholder 4">
            <a:extLst>
              <a:ext uri="{FF2B5EF4-FFF2-40B4-BE49-F238E27FC236}">
                <a16:creationId xmlns:a16="http://schemas.microsoft.com/office/drawing/2014/main" id="{FCC1CCEE-725F-4745-837B-87EFB70E71D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561522A-E0E6-406B-BF30-A7C7A57294BE}"/>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12300417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C9BDC-6F21-4EF5-A8DD-E35E27EACA5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B968D5F-2AB6-42D3-A54E-AB3E6032517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65AB07F-D5F7-402A-AE4E-027BF1CA912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108EDC-3863-43B9-93C7-37465DC73B28}"/>
              </a:ext>
            </a:extLst>
          </p:cNvPr>
          <p:cNvSpPr>
            <a:spLocks noGrp="1"/>
          </p:cNvSpPr>
          <p:nvPr>
            <p:ph type="dt" sz="half" idx="10"/>
          </p:nvPr>
        </p:nvSpPr>
        <p:spPr/>
        <p:txBody>
          <a:bodyPr/>
          <a:lstStyle/>
          <a:p>
            <a:fld id="{40DA1498-92C7-4E4B-8045-C9195F453964}" type="datetimeFigureOut">
              <a:rPr lang="en-US" smtClean="0"/>
              <a:t>10/13/2026</a:t>
            </a:fld>
            <a:endParaRPr lang="en-US" dirty="0"/>
          </a:p>
        </p:txBody>
      </p:sp>
      <p:sp>
        <p:nvSpPr>
          <p:cNvPr id="6" name="Footer Placeholder 5">
            <a:extLst>
              <a:ext uri="{FF2B5EF4-FFF2-40B4-BE49-F238E27FC236}">
                <a16:creationId xmlns:a16="http://schemas.microsoft.com/office/drawing/2014/main" id="{A777D452-958D-4159-A9A4-16DD29680A04}"/>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89654B6-1460-48B9-AC7E-592F68BAB276}"/>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974041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8C848-926A-4FD3-A311-A100A2662BE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C8ECD90-B4F0-4DFB-BB3D-F2310207896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35A6C3A-033E-474B-AB97-D8291A04E7D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532B928-3A23-4FCA-AD1F-E45A467B54F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BDC8376-6FC6-4A11-B0DB-9A148E9C00E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E80206F-8846-425C-A56E-16FFBA442014}"/>
              </a:ext>
            </a:extLst>
          </p:cNvPr>
          <p:cNvSpPr>
            <a:spLocks noGrp="1"/>
          </p:cNvSpPr>
          <p:nvPr>
            <p:ph type="dt" sz="half" idx="10"/>
          </p:nvPr>
        </p:nvSpPr>
        <p:spPr/>
        <p:txBody>
          <a:bodyPr/>
          <a:lstStyle/>
          <a:p>
            <a:fld id="{40DA1498-92C7-4E4B-8045-C9195F453964}" type="datetimeFigureOut">
              <a:rPr lang="en-US" smtClean="0"/>
              <a:t>10/13/2026</a:t>
            </a:fld>
            <a:endParaRPr lang="en-US" dirty="0"/>
          </a:p>
        </p:txBody>
      </p:sp>
      <p:sp>
        <p:nvSpPr>
          <p:cNvPr id="8" name="Footer Placeholder 7">
            <a:extLst>
              <a:ext uri="{FF2B5EF4-FFF2-40B4-BE49-F238E27FC236}">
                <a16:creationId xmlns:a16="http://schemas.microsoft.com/office/drawing/2014/main" id="{6A45E89F-12CF-4561-A5F2-1E05783A3063}"/>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EB4DFE4-927C-43B1-A061-5CB97FFB33BE}"/>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4690582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0E367-8DA0-4655-BCBC-F4280D8642C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FEF9592-AA3C-4CF8-A5DB-4D010195A438}"/>
              </a:ext>
            </a:extLst>
          </p:cNvPr>
          <p:cNvSpPr>
            <a:spLocks noGrp="1"/>
          </p:cNvSpPr>
          <p:nvPr>
            <p:ph type="dt" sz="half" idx="10"/>
          </p:nvPr>
        </p:nvSpPr>
        <p:spPr/>
        <p:txBody>
          <a:bodyPr/>
          <a:lstStyle/>
          <a:p>
            <a:fld id="{40DA1498-92C7-4E4B-8045-C9195F453964}" type="datetimeFigureOut">
              <a:rPr lang="en-US" smtClean="0"/>
              <a:t>10/13/2026</a:t>
            </a:fld>
            <a:endParaRPr lang="en-US" dirty="0"/>
          </a:p>
        </p:txBody>
      </p:sp>
      <p:sp>
        <p:nvSpPr>
          <p:cNvPr id="4" name="Footer Placeholder 3">
            <a:extLst>
              <a:ext uri="{FF2B5EF4-FFF2-40B4-BE49-F238E27FC236}">
                <a16:creationId xmlns:a16="http://schemas.microsoft.com/office/drawing/2014/main" id="{3C2C9377-F93E-4515-852A-264707755154}"/>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AED076D-476B-42BA-8795-14FE6C1E6974}"/>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6255511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EA599B4-6AB2-4190-82B5-7667EE1E922A}"/>
              </a:ext>
            </a:extLst>
          </p:cNvPr>
          <p:cNvSpPr>
            <a:spLocks noGrp="1"/>
          </p:cNvSpPr>
          <p:nvPr>
            <p:ph type="dt" sz="half" idx="10"/>
          </p:nvPr>
        </p:nvSpPr>
        <p:spPr/>
        <p:txBody>
          <a:bodyPr/>
          <a:lstStyle/>
          <a:p>
            <a:fld id="{40DA1498-92C7-4E4B-8045-C9195F453964}" type="datetimeFigureOut">
              <a:rPr lang="en-US" smtClean="0"/>
              <a:t>10/13/2026</a:t>
            </a:fld>
            <a:endParaRPr lang="en-US" dirty="0"/>
          </a:p>
        </p:txBody>
      </p:sp>
      <p:sp>
        <p:nvSpPr>
          <p:cNvPr id="3" name="Footer Placeholder 2">
            <a:extLst>
              <a:ext uri="{FF2B5EF4-FFF2-40B4-BE49-F238E27FC236}">
                <a16:creationId xmlns:a16="http://schemas.microsoft.com/office/drawing/2014/main" id="{1B8FBFB3-AD86-4E39-B8AE-B4EC14528156}"/>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9A4AF55-C114-4B60-9A20-56B00A11B3BF}"/>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0582002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883DA1-5CB8-405D-9613-8A9B7BC566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842BB15-A24D-42E9-9CAE-BB827226301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8F0849D-D3C3-462A-9751-4EAB0B9145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80DD20-7A20-4574-98A4-427795876739}"/>
              </a:ext>
            </a:extLst>
          </p:cNvPr>
          <p:cNvSpPr>
            <a:spLocks noGrp="1"/>
          </p:cNvSpPr>
          <p:nvPr>
            <p:ph type="dt" sz="half" idx="10"/>
          </p:nvPr>
        </p:nvSpPr>
        <p:spPr/>
        <p:txBody>
          <a:bodyPr/>
          <a:lstStyle/>
          <a:p>
            <a:fld id="{40DA1498-92C7-4E4B-8045-C9195F453964}" type="datetimeFigureOut">
              <a:rPr lang="en-US" smtClean="0"/>
              <a:t>10/13/2026</a:t>
            </a:fld>
            <a:endParaRPr lang="en-US" dirty="0"/>
          </a:p>
        </p:txBody>
      </p:sp>
      <p:sp>
        <p:nvSpPr>
          <p:cNvPr id="6" name="Footer Placeholder 5">
            <a:extLst>
              <a:ext uri="{FF2B5EF4-FFF2-40B4-BE49-F238E27FC236}">
                <a16:creationId xmlns:a16="http://schemas.microsoft.com/office/drawing/2014/main" id="{54D0ED2B-71C4-421A-9DB0-676E00C10BD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8C4572A-ADFC-4C53-BCA2-42BDF693BC4D}"/>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2309509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F5C67-EEEC-4AB0-9653-0F80D6B109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DD50D6D-5277-4324-AF23-5FAF007834E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75275657-2BF9-4761-96B6-50EE3CFCFA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3C3F7B-A4C8-4F9D-8165-BC5186EA0929}"/>
              </a:ext>
            </a:extLst>
          </p:cNvPr>
          <p:cNvSpPr>
            <a:spLocks noGrp="1"/>
          </p:cNvSpPr>
          <p:nvPr>
            <p:ph type="dt" sz="half" idx="10"/>
          </p:nvPr>
        </p:nvSpPr>
        <p:spPr/>
        <p:txBody>
          <a:bodyPr/>
          <a:lstStyle/>
          <a:p>
            <a:fld id="{40DA1498-92C7-4E4B-8045-C9195F453964}" type="datetimeFigureOut">
              <a:rPr lang="en-US" smtClean="0"/>
              <a:t>10/13/2026</a:t>
            </a:fld>
            <a:endParaRPr lang="en-US" dirty="0"/>
          </a:p>
        </p:txBody>
      </p:sp>
      <p:sp>
        <p:nvSpPr>
          <p:cNvPr id="6" name="Footer Placeholder 5">
            <a:extLst>
              <a:ext uri="{FF2B5EF4-FFF2-40B4-BE49-F238E27FC236}">
                <a16:creationId xmlns:a16="http://schemas.microsoft.com/office/drawing/2014/main" id="{DE696EA5-2FA2-464D-982F-C53E6426A84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911B398-191B-4AB1-86ED-00D0046EACF5}"/>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15866011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7B869-BFB2-4C20-8AB1-46704BB3D17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9F007DB-4F12-4428-9C48-5120DF07046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FFA8DA-0E31-4CA6-BBFC-2467AAD1D30B}"/>
              </a:ext>
            </a:extLst>
          </p:cNvPr>
          <p:cNvSpPr>
            <a:spLocks noGrp="1"/>
          </p:cNvSpPr>
          <p:nvPr>
            <p:ph type="dt" sz="half" idx="10"/>
          </p:nvPr>
        </p:nvSpPr>
        <p:spPr/>
        <p:txBody>
          <a:bodyPr/>
          <a:lstStyle/>
          <a:p>
            <a:fld id="{40DA1498-92C7-4E4B-8045-C9195F453964}" type="datetimeFigureOut">
              <a:rPr lang="en-US" smtClean="0"/>
              <a:t>10/13/2026</a:t>
            </a:fld>
            <a:endParaRPr lang="en-US" dirty="0"/>
          </a:p>
        </p:txBody>
      </p:sp>
      <p:sp>
        <p:nvSpPr>
          <p:cNvPr id="5" name="Footer Placeholder 4">
            <a:extLst>
              <a:ext uri="{FF2B5EF4-FFF2-40B4-BE49-F238E27FC236}">
                <a16:creationId xmlns:a16="http://schemas.microsoft.com/office/drawing/2014/main" id="{064974BD-9845-459A-9AAA-12731E2507C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2A71B0A-FDFB-4B2C-A9EC-2334C590013E}"/>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9314092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60B5D73-1652-4A8E-B5A3-101523D7290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9B7FB99-7425-444D-B602-01B672BCE8C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EEA9C5-552A-48A1-AB54-ED54209B3B48}"/>
              </a:ext>
            </a:extLst>
          </p:cNvPr>
          <p:cNvSpPr>
            <a:spLocks noGrp="1"/>
          </p:cNvSpPr>
          <p:nvPr>
            <p:ph type="dt" sz="half" idx="10"/>
          </p:nvPr>
        </p:nvSpPr>
        <p:spPr/>
        <p:txBody>
          <a:bodyPr/>
          <a:lstStyle/>
          <a:p>
            <a:fld id="{40DA1498-92C7-4E4B-8045-C9195F453964}" type="datetimeFigureOut">
              <a:rPr lang="en-US" smtClean="0"/>
              <a:t>10/13/2026</a:t>
            </a:fld>
            <a:endParaRPr lang="en-US" dirty="0"/>
          </a:p>
        </p:txBody>
      </p:sp>
      <p:sp>
        <p:nvSpPr>
          <p:cNvPr id="5" name="Footer Placeholder 4">
            <a:extLst>
              <a:ext uri="{FF2B5EF4-FFF2-40B4-BE49-F238E27FC236}">
                <a16:creationId xmlns:a16="http://schemas.microsoft.com/office/drawing/2014/main" id="{1A83AAA3-4155-48FB-8F00-16DBE0C9C25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D694EAE-CB3C-4DEF-A66D-583C7AAC92D8}"/>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17468042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B3445CA-54C1-4DDE-A216-DD2414E3F5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306395A-6879-4E93-B24E-067F88AC1D6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50FF5B-A6A6-4F0F-AA5D-3F0F69A43A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0DA1498-92C7-4E4B-8045-C9195F453964}" type="datetimeFigureOut">
              <a:rPr lang="en-US" smtClean="0"/>
              <a:t>10/13/2026</a:t>
            </a:fld>
            <a:endParaRPr lang="en-US" dirty="0"/>
          </a:p>
        </p:txBody>
      </p:sp>
      <p:sp>
        <p:nvSpPr>
          <p:cNvPr id="5" name="Footer Placeholder 4">
            <a:extLst>
              <a:ext uri="{FF2B5EF4-FFF2-40B4-BE49-F238E27FC236}">
                <a16:creationId xmlns:a16="http://schemas.microsoft.com/office/drawing/2014/main" id="{FA798FAA-76CC-42EF-8BE0-466A41BBAB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5149FF02-6890-4E10-B958-1097AD32C6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6FEDF93-2BFD-41CA-ABC7-B039102F3792}" type="slidenum">
              <a:rPr lang="en-US" smtClean="0"/>
              <a:t>‹#›</a:t>
            </a:fld>
            <a:endParaRPr lang="en-US" dirty="0"/>
          </a:p>
        </p:txBody>
      </p:sp>
    </p:spTree>
    <p:extLst>
      <p:ext uri="{BB962C8B-B14F-4D97-AF65-F5344CB8AC3E}">
        <p14:creationId xmlns:p14="http://schemas.microsoft.com/office/powerpoint/2010/main" val="26037897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hyperlink" Target="https://24slides.com/?utm_campaign=mp&amp;utm_medium=ppt&amp;utm_source=pptlink&amp;utm_content=&amp;utm_term=" TargetMode="External"/><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0.emf"/></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zigZag">
          <a:fgClr>
            <a:schemeClr val="accent3">
              <a:lumMod val="75000"/>
            </a:schemeClr>
          </a:fgClr>
          <a:bgClr>
            <a:schemeClr val="accent3">
              <a:lumMod val="50000"/>
            </a:schemeClr>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00AEF-1595-4419-801B-6E36A33BB8CF}"/>
              </a:ext>
            </a:extLst>
          </p:cNvPr>
          <p:cNvSpPr>
            <a:spLocks noGrp="1"/>
          </p:cNvSpPr>
          <p:nvPr>
            <p:ph type="ctrTitle"/>
          </p:nvPr>
        </p:nvSpPr>
        <p:spPr>
          <a:xfrm>
            <a:off x="1524000" y="4376036"/>
            <a:ext cx="9144000" cy="1606594"/>
          </a:xfrm>
        </p:spPr>
        <p:txBody>
          <a:bodyPr lIns="0" tIns="0" rIns="0" bIns="0" anchor="t">
            <a:spAutoFit/>
          </a:bodyPr>
          <a:lstStyle/>
          <a:p>
            <a:r>
              <a:rPr lang="en-US" b="1" dirty="0">
                <a:solidFill>
                  <a:schemeClr val="bg1"/>
                </a:solidFill>
              </a:rPr>
              <a:t>Central Door Locking</a:t>
            </a:r>
            <a:br>
              <a:rPr lang="en-US" dirty="0">
                <a:solidFill>
                  <a:schemeClr val="bg1"/>
                </a:solidFill>
              </a:rPr>
            </a:br>
            <a:r>
              <a:rPr lang="en-US" sz="2800" dirty="0">
                <a:solidFill>
                  <a:schemeClr val="accent4"/>
                </a:solidFill>
              </a:rPr>
              <a:t>Training</a:t>
            </a:r>
            <a:br>
              <a:rPr lang="en-US" sz="2800" dirty="0">
                <a:solidFill>
                  <a:schemeClr val="accent4"/>
                </a:solidFill>
              </a:rPr>
            </a:br>
            <a:r>
              <a:rPr lang="en-US" sz="2800" dirty="0">
                <a:solidFill>
                  <a:schemeClr val="accent4"/>
                </a:solidFill>
              </a:rPr>
              <a:t>Bitoleanu Eugen Andrei Eduard</a:t>
            </a:r>
          </a:p>
        </p:txBody>
      </p:sp>
      <p:sp>
        <p:nvSpPr>
          <p:cNvPr id="4" name="Diamond 3">
            <a:extLst>
              <a:ext uri="{FF2B5EF4-FFF2-40B4-BE49-F238E27FC236}">
                <a16:creationId xmlns:a16="http://schemas.microsoft.com/office/drawing/2014/main" id="{1C59176D-59A8-4C02-B448-EE01232FB3E7}"/>
              </a:ext>
              <a:ext uri="{C183D7F6-B498-43B3-948B-1728B52AA6E4}">
                <adec:decorative xmlns:adec="http://schemas.microsoft.com/office/drawing/2017/decorative" val="1"/>
              </a:ext>
            </a:extLst>
          </p:cNvPr>
          <p:cNvSpPr/>
          <p:nvPr/>
        </p:nvSpPr>
        <p:spPr>
          <a:xfrm>
            <a:off x="4792319" y="-608242"/>
            <a:ext cx="2607364" cy="2607364"/>
          </a:xfrm>
          <a:prstGeom prst="diamond">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Diamond 4">
            <a:extLst>
              <a:ext uri="{FF2B5EF4-FFF2-40B4-BE49-F238E27FC236}">
                <a16:creationId xmlns:a16="http://schemas.microsoft.com/office/drawing/2014/main" id="{A50B1817-3C7F-41BC-8557-7A00C928EE16}"/>
              </a:ext>
              <a:ext uri="{C183D7F6-B498-43B3-948B-1728B52AA6E4}">
                <adec:decorative xmlns:adec="http://schemas.microsoft.com/office/drawing/2017/decorative" val="1"/>
              </a:ext>
            </a:extLst>
          </p:cNvPr>
          <p:cNvSpPr/>
          <p:nvPr/>
        </p:nvSpPr>
        <p:spPr>
          <a:xfrm>
            <a:off x="4325258" y="-1770743"/>
            <a:ext cx="3541486" cy="3541486"/>
          </a:xfrm>
          <a:prstGeom prst="diamond">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 name="Group 6" descr="Icon of chart. ">
            <a:extLst>
              <a:ext uri="{FF2B5EF4-FFF2-40B4-BE49-F238E27FC236}">
                <a16:creationId xmlns:a16="http://schemas.microsoft.com/office/drawing/2014/main" id="{B95DF07A-CE7E-4D89-9AA0-25F4FFF3B9C7}"/>
              </a:ext>
            </a:extLst>
          </p:cNvPr>
          <p:cNvGrpSpPr/>
          <p:nvPr/>
        </p:nvGrpSpPr>
        <p:grpSpPr>
          <a:xfrm>
            <a:off x="5851021" y="3724968"/>
            <a:ext cx="489958" cy="492680"/>
            <a:chOff x="2025650" y="4786313"/>
            <a:chExt cx="285750" cy="287338"/>
          </a:xfrm>
          <a:solidFill>
            <a:schemeClr val="bg1"/>
          </a:solidFill>
        </p:grpSpPr>
        <p:sp>
          <p:nvSpPr>
            <p:cNvPr id="8" name="Freeform 565">
              <a:extLst>
                <a:ext uri="{FF2B5EF4-FFF2-40B4-BE49-F238E27FC236}">
                  <a16:creationId xmlns:a16="http://schemas.microsoft.com/office/drawing/2014/main" id="{548FC78B-EF83-4185-A63D-1A5A85640B62}"/>
                </a:ext>
              </a:extLst>
            </p:cNvPr>
            <p:cNvSpPr>
              <a:spLocks noEditPoints="1"/>
            </p:cNvSpPr>
            <p:nvPr/>
          </p:nvSpPr>
          <p:spPr bwMode="auto">
            <a:xfrm>
              <a:off x="2025650" y="4786313"/>
              <a:ext cx="285750" cy="287338"/>
            </a:xfrm>
            <a:custGeom>
              <a:avLst/>
              <a:gdLst>
                <a:gd name="T0" fmla="*/ 812 w 903"/>
                <a:gd name="T1" fmla="*/ 500 h 903"/>
                <a:gd name="T2" fmla="*/ 810 w 903"/>
                <a:gd name="T3" fmla="*/ 505 h 903"/>
                <a:gd name="T4" fmla="*/ 806 w 903"/>
                <a:gd name="T5" fmla="*/ 509 h 903"/>
                <a:gd name="T6" fmla="*/ 800 w 903"/>
                <a:gd name="T7" fmla="*/ 511 h 903"/>
                <a:gd name="T8" fmla="*/ 105 w 903"/>
                <a:gd name="T9" fmla="*/ 511 h 903"/>
                <a:gd name="T10" fmla="*/ 99 w 903"/>
                <a:gd name="T11" fmla="*/ 510 h 903"/>
                <a:gd name="T12" fmla="*/ 95 w 903"/>
                <a:gd name="T13" fmla="*/ 507 h 903"/>
                <a:gd name="T14" fmla="*/ 92 w 903"/>
                <a:gd name="T15" fmla="*/ 502 h 903"/>
                <a:gd name="T16" fmla="*/ 90 w 903"/>
                <a:gd name="T17" fmla="*/ 496 h 903"/>
                <a:gd name="T18" fmla="*/ 90 w 903"/>
                <a:gd name="T19" fmla="*/ 105 h 903"/>
                <a:gd name="T20" fmla="*/ 92 w 903"/>
                <a:gd name="T21" fmla="*/ 100 h 903"/>
                <a:gd name="T22" fmla="*/ 95 w 903"/>
                <a:gd name="T23" fmla="*/ 94 h 903"/>
                <a:gd name="T24" fmla="*/ 99 w 903"/>
                <a:gd name="T25" fmla="*/ 91 h 903"/>
                <a:gd name="T26" fmla="*/ 105 w 903"/>
                <a:gd name="T27" fmla="*/ 90 h 903"/>
                <a:gd name="T28" fmla="*/ 800 w 903"/>
                <a:gd name="T29" fmla="*/ 90 h 903"/>
                <a:gd name="T30" fmla="*/ 806 w 903"/>
                <a:gd name="T31" fmla="*/ 92 h 903"/>
                <a:gd name="T32" fmla="*/ 810 w 903"/>
                <a:gd name="T33" fmla="*/ 96 h 903"/>
                <a:gd name="T34" fmla="*/ 812 w 903"/>
                <a:gd name="T35" fmla="*/ 102 h 903"/>
                <a:gd name="T36" fmla="*/ 813 w 903"/>
                <a:gd name="T37" fmla="*/ 496 h 903"/>
                <a:gd name="T38" fmla="*/ 15 w 903"/>
                <a:gd name="T39" fmla="*/ 0 h 903"/>
                <a:gd name="T40" fmla="*/ 9 w 903"/>
                <a:gd name="T41" fmla="*/ 1 h 903"/>
                <a:gd name="T42" fmla="*/ 5 w 903"/>
                <a:gd name="T43" fmla="*/ 4 h 903"/>
                <a:gd name="T44" fmla="*/ 1 w 903"/>
                <a:gd name="T45" fmla="*/ 8 h 903"/>
                <a:gd name="T46" fmla="*/ 0 w 903"/>
                <a:gd name="T47" fmla="*/ 15 h 903"/>
                <a:gd name="T48" fmla="*/ 0 w 903"/>
                <a:gd name="T49" fmla="*/ 590 h 903"/>
                <a:gd name="T50" fmla="*/ 2 w 903"/>
                <a:gd name="T51" fmla="*/ 595 h 903"/>
                <a:gd name="T52" fmla="*/ 7 w 903"/>
                <a:gd name="T53" fmla="*/ 599 h 903"/>
                <a:gd name="T54" fmla="*/ 12 w 903"/>
                <a:gd name="T55" fmla="*/ 602 h 903"/>
                <a:gd name="T56" fmla="*/ 437 w 903"/>
                <a:gd name="T57" fmla="*/ 602 h 903"/>
                <a:gd name="T58" fmla="*/ 260 w 903"/>
                <a:gd name="T59" fmla="*/ 877 h 903"/>
                <a:gd name="T60" fmla="*/ 257 w 903"/>
                <a:gd name="T61" fmla="*/ 883 h 903"/>
                <a:gd name="T62" fmla="*/ 256 w 903"/>
                <a:gd name="T63" fmla="*/ 888 h 903"/>
                <a:gd name="T64" fmla="*/ 257 w 903"/>
                <a:gd name="T65" fmla="*/ 893 h 903"/>
                <a:gd name="T66" fmla="*/ 260 w 903"/>
                <a:gd name="T67" fmla="*/ 899 h 903"/>
                <a:gd name="T68" fmla="*/ 265 w 903"/>
                <a:gd name="T69" fmla="*/ 902 h 903"/>
                <a:gd name="T70" fmla="*/ 271 w 903"/>
                <a:gd name="T71" fmla="*/ 903 h 903"/>
                <a:gd name="T72" fmla="*/ 277 w 903"/>
                <a:gd name="T73" fmla="*/ 902 h 903"/>
                <a:gd name="T74" fmla="*/ 281 w 903"/>
                <a:gd name="T75" fmla="*/ 899 h 903"/>
                <a:gd name="T76" fmla="*/ 621 w 903"/>
                <a:gd name="T77" fmla="*/ 899 h 903"/>
                <a:gd name="T78" fmla="*/ 627 w 903"/>
                <a:gd name="T79" fmla="*/ 902 h 903"/>
                <a:gd name="T80" fmla="*/ 632 w 903"/>
                <a:gd name="T81" fmla="*/ 903 h 903"/>
                <a:gd name="T82" fmla="*/ 637 w 903"/>
                <a:gd name="T83" fmla="*/ 902 h 903"/>
                <a:gd name="T84" fmla="*/ 643 w 903"/>
                <a:gd name="T85" fmla="*/ 899 h 903"/>
                <a:gd name="T86" fmla="*/ 646 w 903"/>
                <a:gd name="T87" fmla="*/ 893 h 903"/>
                <a:gd name="T88" fmla="*/ 647 w 903"/>
                <a:gd name="T89" fmla="*/ 888 h 903"/>
                <a:gd name="T90" fmla="*/ 646 w 903"/>
                <a:gd name="T91" fmla="*/ 883 h 903"/>
                <a:gd name="T92" fmla="*/ 643 w 903"/>
                <a:gd name="T93" fmla="*/ 877 h 903"/>
                <a:gd name="T94" fmla="*/ 467 w 903"/>
                <a:gd name="T95" fmla="*/ 602 h 903"/>
                <a:gd name="T96" fmla="*/ 892 w 903"/>
                <a:gd name="T97" fmla="*/ 602 h 903"/>
                <a:gd name="T98" fmla="*/ 897 w 903"/>
                <a:gd name="T99" fmla="*/ 599 h 903"/>
                <a:gd name="T100" fmla="*/ 900 w 903"/>
                <a:gd name="T101" fmla="*/ 595 h 903"/>
                <a:gd name="T102" fmla="*/ 902 w 903"/>
                <a:gd name="T103" fmla="*/ 590 h 903"/>
                <a:gd name="T104" fmla="*/ 903 w 903"/>
                <a:gd name="T105" fmla="*/ 15 h 903"/>
                <a:gd name="T106" fmla="*/ 902 w 903"/>
                <a:gd name="T107" fmla="*/ 8 h 903"/>
                <a:gd name="T108" fmla="*/ 899 w 903"/>
                <a:gd name="T109" fmla="*/ 4 h 903"/>
                <a:gd name="T110" fmla="*/ 894 w 903"/>
                <a:gd name="T111" fmla="*/ 1 h 903"/>
                <a:gd name="T112" fmla="*/ 888 w 903"/>
                <a:gd name="T11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903" h="903">
                  <a:moveTo>
                    <a:pt x="813" y="496"/>
                  </a:moveTo>
                  <a:lnTo>
                    <a:pt x="812" y="500"/>
                  </a:lnTo>
                  <a:lnTo>
                    <a:pt x="811" y="502"/>
                  </a:lnTo>
                  <a:lnTo>
                    <a:pt x="810" y="505"/>
                  </a:lnTo>
                  <a:lnTo>
                    <a:pt x="808" y="507"/>
                  </a:lnTo>
                  <a:lnTo>
                    <a:pt x="806" y="509"/>
                  </a:lnTo>
                  <a:lnTo>
                    <a:pt x="804" y="510"/>
                  </a:lnTo>
                  <a:lnTo>
                    <a:pt x="800" y="511"/>
                  </a:lnTo>
                  <a:lnTo>
                    <a:pt x="797" y="511"/>
                  </a:lnTo>
                  <a:lnTo>
                    <a:pt x="105" y="511"/>
                  </a:lnTo>
                  <a:lnTo>
                    <a:pt x="102" y="511"/>
                  </a:lnTo>
                  <a:lnTo>
                    <a:pt x="99" y="510"/>
                  </a:lnTo>
                  <a:lnTo>
                    <a:pt x="97" y="509"/>
                  </a:lnTo>
                  <a:lnTo>
                    <a:pt x="95" y="507"/>
                  </a:lnTo>
                  <a:lnTo>
                    <a:pt x="93" y="505"/>
                  </a:lnTo>
                  <a:lnTo>
                    <a:pt x="92" y="502"/>
                  </a:lnTo>
                  <a:lnTo>
                    <a:pt x="90" y="500"/>
                  </a:lnTo>
                  <a:lnTo>
                    <a:pt x="90" y="496"/>
                  </a:lnTo>
                  <a:lnTo>
                    <a:pt x="90" y="316"/>
                  </a:lnTo>
                  <a:lnTo>
                    <a:pt x="90" y="105"/>
                  </a:lnTo>
                  <a:lnTo>
                    <a:pt x="90" y="102"/>
                  </a:lnTo>
                  <a:lnTo>
                    <a:pt x="92" y="100"/>
                  </a:lnTo>
                  <a:lnTo>
                    <a:pt x="93" y="96"/>
                  </a:lnTo>
                  <a:lnTo>
                    <a:pt x="95" y="94"/>
                  </a:lnTo>
                  <a:lnTo>
                    <a:pt x="97" y="92"/>
                  </a:lnTo>
                  <a:lnTo>
                    <a:pt x="99" y="91"/>
                  </a:lnTo>
                  <a:lnTo>
                    <a:pt x="102" y="90"/>
                  </a:lnTo>
                  <a:lnTo>
                    <a:pt x="105" y="90"/>
                  </a:lnTo>
                  <a:lnTo>
                    <a:pt x="798" y="90"/>
                  </a:lnTo>
                  <a:lnTo>
                    <a:pt x="800" y="90"/>
                  </a:lnTo>
                  <a:lnTo>
                    <a:pt x="804" y="91"/>
                  </a:lnTo>
                  <a:lnTo>
                    <a:pt x="806" y="92"/>
                  </a:lnTo>
                  <a:lnTo>
                    <a:pt x="808" y="94"/>
                  </a:lnTo>
                  <a:lnTo>
                    <a:pt x="810" y="96"/>
                  </a:lnTo>
                  <a:lnTo>
                    <a:pt x="811" y="100"/>
                  </a:lnTo>
                  <a:lnTo>
                    <a:pt x="812" y="102"/>
                  </a:lnTo>
                  <a:lnTo>
                    <a:pt x="813" y="105"/>
                  </a:lnTo>
                  <a:lnTo>
                    <a:pt x="813" y="496"/>
                  </a:lnTo>
                  <a:close/>
                  <a:moveTo>
                    <a:pt x="888" y="0"/>
                  </a:moveTo>
                  <a:lnTo>
                    <a:pt x="15" y="0"/>
                  </a:lnTo>
                  <a:lnTo>
                    <a:pt x="12" y="0"/>
                  </a:lnTo>
                  <a:lnTo>
                    <a:pt x="9" y="1"/>
                  </a:lnTo>
                  <a:lnTo>
                    <a:pt x="7" y="2"/>
                  </a:lnTo>
                  <a:lnTo>
                    <a:pt x="5" y="4"/>
                  </a:lnTo>
                  <a:lnTo>
                    <a:pt x="2" y="6"/>
                  </a:lnTo>
                  <a:lnTo>
                    <a:pt x="1" y="8"/>
                  </a:lnTo>
                  <a:lnTo>
                    <a:pt x="0" y="12"/>
                  </a:lnTo>
                  <a:lnTo>
                    <a:pt x="0" y="15"/>
                  </a:lnTo>
                  <a:lnTo>
                    <a:pt x="0" y="587"/>
                  </a:lnTo>
                  <a:lnTo>
                    <a:pt x="0" y="590"/>
                  </a:lnTo>
                  <a:lnTo>
                    <a:pt x="1" y="593"/>
                  </a:lnTo>
                  <a:lnTo>
                    <a:pt x="2" y="595"/>
                  </a:lnTo>
                  <a:lnTo>
                    <a:pt x="5" y="597"/>
                  </a:lnTo>
                  <a:lnTo>
                    <a:pt x="7" y="599"/>
                  </a:lnTo>
                  <a:lnTo>
                    <a:pt x="9" y="601"/>
                  </a:lnTo>
                  <a:lnTo>
                    <a:pt x="12" y="602"/>
                  </a:lnTo>
                  <a:lnTo>
                    <a:pt x="15" y="602"/>
                  </a:lnTo>
                  <a:lnTo>
                    <a:pt x="437" y="602"/>
                  </a:lnTo>
                  <a:lnTo>
                    <a:pt x="437" y="701"/>
                  </a:lnTo>
                  <a:lnTo>
                    <a:pt x="260" y="877"/>
                  </a:lnTo>
                  <a:lnTo>
                    <a:pt x="259" y="879"/>
                  </a:lnTo>
                  <a:lnTo>
                    <a:pt x="257" y="883"/>
                  </a:lnTo>
                  <a:lnTo>
                    <a:pt x="256" y="885"/>
                  </a:lnTo>
                  <a:lnTo>
                    <a:pt x="256" y="888"/>
                  </a:lnTo>
                  <a:lnTo>
                    <a:pt x="256" y="891"/>
                  </a:lnTo>
                  <a:lnTo>
                    <a:pt x="257" y="893"/>
                  </a:lnTo>
                  <a:lnTo>
                    <a:pt x="259" y="897"/>
                  </a:lnTo>
                  <a:lnTo>
                    <a:pt x="260" y="899"/>
                  </a:lnTo>
                  <a:lnTo>
                    <a:pt x="263" y="901"/>
                  </a:lnTo>
                  <a:lnTo>
                    <a:pt x="265" y="902"/>
                  </a:lnTo>
                  <a:lnTo>
                    <a:pt x="268" y="903"/>
                  </a:lnTo>
                  <a:lnTo>
                    <a:pt x="271" y="903"/>
                  </a:lnTo>
                  <a:lnTo>
                    <a:pt x="274" y="903"/>
                  </a:lnTo>
                  <a:lnTo>
                    <a:pt x="277" y="902"/>
                  </a:lnTo>
                  <a:lnTo>
                    <a:pt x="279" y="901"/>
                  </a:lnTo>
                  <a:lnTo>
                    <a:pt x="281" y="899"/>
                  </a:lnTo>
                  <a:lnTo>
                    <a:pt x="452" y="728"/>
                  </a:lnTo>
                  <a:lnTo>
                    <a:pt x="621" y="899"/>
                  </a:lnTo>
                  <a:lnTo>
                    <a:pt x="623" y="901"/>
                  </a:lnTo>
                  <a:lnTo>
                    <a:pt x="627" y="902"/>
                  </a:lnTo>
                  <a:lnTo>
                    <a:pt x="629" y="903"/>
                  </a:lnTo>
                  <a:lnTo>
                    <a:pt x="632" y="903"/>
                  </a:lnTo>
                  <a:lnTo>
                    <a:pt x="635" y="903"/>
                  </a:lnTo>
                  <a:lnTo>
                    <a:pt x="637" y="902"/>
                  </a:lnTo>
                  <a:lnTo>
                    <a:pt x="641" y="901"/>
                  </a:lnTo>
                  <a:lnTo>
                    <a:pt x="643" y="899"/>
                  </a:lnTo>
                  <a:lnTo>
                    <a:pt x="645" y="897"/>
                  </a:lnTo>
                  <a:lnTo>
                    <a:pt x="646" y="893"/>
                  </a:lnTo>
                  <a:lnTo>
                    <a:pt x="647" y="891"/>
                  </a:lnTo>
                  <a:lnTo>
                    <a:pt x="647" y="888"/>
                  </a:lnTo>
                  <a:lnTo>
                    <a:pt x="647" y="885"/>
                  </a:lnTo>
                  <a:lnTo>
                    <a:pt x="646" y="883"/>
                  </a:lnTo>
                  <a:lnTo>
                    <a:pt x="645" y="879"/>
                  </a:lnTo>
                  <a:lnTo>
                    <a:pt x="643" y="877"/>
                  </a:lnTo>
                  <a:lnTo>
                    <a:pt x="467" y="701"/>
                  </a:lnTo>
                  <a:lnTo>
                    <a:pt x="467" y="602"/>
                  </a:lnTo>
                  <a:lnTo>
                    <a:pt x="888" y="602"/>
                  </a:lnTo>
                  <a:lnTo>
                    <a:pt x="892" y="602"/>
                  </a:lnTo>
                  <a:lnTo>
                    <a:pt x="894" y="601"/>
                  </a:lnTo>
                  <a:lnTo>
                    <a:pt x="897" y="599"/>
                  </a:lnTo>
                  <a:lnTo>
                    <a:pt x="899" y="597"/>
                  </a:lnTo>
                  <a:lnTo>
                    <a:pt x="900" y="595"/>
                  </a:lnTo>
                  <a:lnTo>
                    <a:pt x="902" y="593"/>
                  </a:lnTo>
                  <a:lnTo>
                    <a:pt x="902" y="590"/>
                  </a:lnTo>
                  <a:lnTo>
                    <a:pt x="903" y="587"/>
                  </a:lnTo>
                  <a:lnTo>
                    <a:pt x="903" y="15"/>
                  </a:lnTo>
                  <a:lnTo>
                    <a:pt x="902" y="12"/>
                  </a:lnTo>
                  <a:lnTo>
                    <a:pt x="902" y="8"/>
                  </a:lnTo>
                  <a:lnTo>
                    <a:pt x="900" y="6"/>
                  </a:lnTo>
                  <a:lnTo>
                    <a:pt x="899" y="4"/>
                  </a:lnTo>
                  <a:lnTo>
                    <a:pt x="897" y="2"/>
                  </a:lnTo>
                  <a:lnTo>
                    <a:pt x="894" y="1"/>
                  </a:lnTo>
                  <a:lnTo>
                    <a:pt x="892" y="0"/>
                  </a:lnTo>
                  <a:lnTo>
                    <a:pt x="88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566">
              <a:extLst>
                <a:ext uri="{FF2B5EF4-FFF2-40B4-BE49-F238E27FC236}">
                  <a16:creationId xmlns:a16="http://schemas.microsoft.com/office/drawing/2014/main" id="{B7B50F87-A3AA-4FB6-9692-24BF5512FC5B}"/>
                </a:ext>
              </a:extLst>
            </p:cNvPr>
            <p:cNvSpPr>
              <a:spLocks/>
            </p:cNvSpPr>
            <p:nvPr/>
          </p:nvSpPr>
          <p:spPr bwMode="auto">
            <a:xfrm>
              <a:off x="2054225" y="4843463"/>
              <a:ext cx="200025" cy="73025"/>
            </a:xfrm>
            <a:custGeom>
              <a:avLst/>
              <a:gdLst>
                <a:gd name="T0" fmla="*/ 151 w 632"/>
                <a:gd name="T1" fmla="*/ 151 h 226"/>
                <a:gd name="T2" fmla="*/ 157 w 632"/>
                <a:gd name="T3" fmla="*/ 149 h 226"/>
                <a:gd name="T4" fmla="*/ 161 w 632"/>
                <a:gd name="T5" fmla="*/ 146 h 226"/>
                <a:gd name="T6" fmla="*/ 288 w 632"/>
                <a:gd name="T7" fmla="*/ 217 h 226"/>
                <a:gd name="T8" fmla="*/ 292 w 632"/>
                <a:gd name="T9" fmla="*/ 223 h 226"/>
                <a:gd name="T10" fmla="*/ 299 w 632"/>
                <a:gd name="T11" fmla="*/ 226 h 226"/>
                <a:gd name="T12" fmla="*/ 302 w 632"/>
                <a:gd name="T13" fmla="*/ 226 h 226"/>
                <a:gd name="T14" fmla="*/ 307 w 632"/>
                <a:gd name="T15" fmla="*/ 225 h 226"/>
                <a:gd name="T16" fmla="*/ 313 w 632"/>
                <a:gd name="T17" fmla="*/ 222 h 226"/>
                <a:gd name="T18" fmla="*/ 471 w 632"/>
                <a:gd name="T19" fmla="*/ 191 h 226"/>
                <a:gd name="T20" fmla="*/ 477 w 632"/>
                <a:gd name="T21" fmla="*/ 195 h 226"/>
                <a:gd name="T22" fmla="*/ 483 w 632"/>
                <a:gd name="T23" fmla="*/ 196 h 226"/>
                <a:gd name="T24" fmla="*/ 488 w 632"/>
                <a:gd name="T25" fmla="*/ 194 h 226"/>
                <a:gd name="T26" fmla="*/ 494 w 632"/>
                <a:gd name="T27" fmla="*/ 191 h 226"/>
                <a:gd name="T28" fmla="*/ 631 w 632"/>
                <a:gd name="T29" fmla="*/ 23 h 226"/>
                <a:gd name="T30" fmla="*/ 632 w 632"/>
                <a:gd name="T31" fmla="*/ 16 h 226"/>
                <a:gd name="T32" fmla="*/ 632 w 632"/>
                <a:gd name="T33" fmla="*/ 11 h 226"/>
                <a:gd name="T34" fmla="*/ 629 w 632"/>
                <a:gd name="T35" fmla="*/ 5 h 226"/>
                <a:gd name="T36" fmla="*/ 625 w 632"/>
                <a:gd name="T37" fmla="*/ 2 h 226"/>
                <a:gd name="T38" fmla="*/ 619 w 632"/>
                <a:gd name="T39" fmla="*/ 0 h 226"/>
                <a:gd name="T40" fmla="*/ 613 w 632"/>
                <a:gd name="T41" fmla="*/ 1 h 226"/>
                <a:gd name="T42" fmla="*/ 607 w 632"/>
                <a:gd name="T43" fmla="*/ 3 h 226"/>
                <a:gd name="T44" fmla="*/ 481 w 632"/>
                <a:gd name="T45" fmla="*/ 159 h 226"/>
                <a:gd name="T46" fmla="*/ 415 w 632"/>
                <a:gd name="T47" fmla="*/ 93 h 226"/>
                <a:gd name="T48" fmla="*/ 409 w 632"/>
                <a:gd name="T49" fmla="*/ 91 h 226"/>
                <a:gd name="T50" fmla="*/ 404 w 632"/>
                <a:gd name="T51" fmla="*/ 91 h 226"/>
                <a:gd name="T52" fmla="*/ 398 w 632"/>
                <a:gd name="T53" fmla="*/ 93 h 226"/>
                <a:gd name="T54" fmla="*/ 307 w 632"/>
                <a:gd name="T55" fmla="*/ 185 h 226"/>
                <a:gd name="T56" fmla="*/ 247 w 632"/>
                <a:gd name="T57" fmla="*/ 39 h 226"/>
                <a:gd name="T58" fmla="*/ 242 w 632"/>
                <a:gd name="T59" fmla="*/ 34 h 226"/>
                <a:gd name="T60" fmla="*/ 234 w 632"/>
                <a:gd name="T61" fmla="*/ 33 h 226"/>
                <a:gd name="T62" fmla="*/ 227 w 632"/>
                <a:gd name="T63" fmla="*/ 35 h 226"/>
                <a:gd name="T64" fmla="*/ 144 w 632"/>
                <a:gd name="T65" fmla="*/ 121 h 226"/>
                <a:gd name="T66" fmla="*/ 12 w 632"/>
                <a:gd name="T67" fmla="*/ 121 h 226"/>
                <a:gd name="T68" fmla="*/ 7 w 632"/>
                <a:gd name="T69" fmla="*/ 123 h 226"/>
                <a:gd name="T70" fmla="*/ 3 w 632"/>
                <a:gd name="T71" fmla="*/ 128 h 226"/>
                <a:gd name="T72" fmla="*/ 0 w 632"/>
                <a:gd name="T73" fmla="*/ 133 h 226"/>
                <a:gd name="T74" fmla="*/ 0 w 632"/>
                <a:gd name="T75" fmla="*/ 138 h 226"/>
                <a:gd name="T76" fmla="*/ 3 w 632"/>
                <a:gd name="T77" fmla="*/ 144 h 226"/>
                <a:gd name="T78" fmla="*/ 7 w 632"/>
                <a:gd name="T79" fmla="*/ 148 h 226"/>
                <a:gd name="T80" fmla="*/ 12 w 632"/>
                <a:gd name="T81" fmla="*/ 150 h 226"/>
                <a:gd name="T82" fmla="*/ 15 w 632"/>
                <a:gd name="T83" fmla="*/ 15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632" h="226">
                  <a:moveTo>
                    <a:pt x="15" y="151"/>
                  </a:moveTo>
                  <a:lnTo>
                    <a:pt x="151" y="151"/>
                  </a:lnTo>
                  <a:lnTo>
                    <a:pt x="154" y="150"/>
                  </a:lnTo>
                  <a:lnTo>
                    <a:pt x="157" y="149"/>
                  </a:lnTo>
                  <a:lnTo>
                    <a:pt x="159" y="148"/>
                  </a:lnTo>
                  <a:lnTo>
                    <a:pt x="161" y="146"/>
                  </a:lnTo>
                  <a:lnTo>
                    <a:pt x="230" y="75"/>
                  </a:lnTo>
                  <a:lnTo>
                    <a:pt x="288" y="217"/>
                  </a:lnTo>
                  <a:lnTo>
                    <a:pt x="289" y="220"/>
                  </a:lnTo>
                  <a:lnTo>
                    <a:pt x="292" y="223"/>
                  </a:lnTo>
                  <a:lnTo>
                    <a:pt x="294" y="224"/>
                  </a:lnTo>
                  <a:lnTo>
                    <a:pt x="299" y="226"/>
                  </a:lnTo>
                  <a:lnTo>
                    <a:pt x="300" y="226"/>
                  </a:lnTo>
                  <a:lnTo>
                    <a:pt x="302" y="226"/>
                  </a:lnTo>
                  <a:lnTo>
                    <a:pt x="304" y="226"/>
                  </a:lnTo>
                  <a:lnTo>
                    <a:pt x="307" y="225"/>
                  </a:lnTo>
                  <a:lnTo>
                    <a:pt x="309" y="223"/>
                  </a:lnTo>
                  <a:lnTo>
                    <a:pt x="313" y="222"/>
                  </a:lnTo>
                  <a:lnTo>
                    <a:pt x="407" y="127"/>
                  </a:lnTo>
                  <a:lnTo>
                    <a:pt x="471" y="191"/>
                  </a:lnTo>
                  <a:lnTo>
                    <a:pt x="473" y="193"/>
                  </a:lnTo>
                  <a:lnTo>
                    <a:pt x="477" y="195"/>
                  </a:lnTo>
                  <a:lnTo>
                    <a:pt x="480" y="196"/>
                  </a:lnTo>
                  <a:lnTo>
                    <a:pt x="483" y="196"/>
                  </a:lnTo>
                  <a:lnTo>
                    <a:pt x="486" y="195"/>
                  </a:lnTo>
                  <a:lnTo>
                    <a:pt x="488" y="194"/>
                  </a:lnTo>
                  <a:lnTo>
                    <a:pt x="492" y="193"/>
                  </a:lnTo>
                  <a:lnTo>
                    <a:pt x="494" y="191"/>
                  </a:lnTo>
                  <a:lnTo>
                    <a:pt x="629" y="25"/>
                  </a:lnTo>
                  <a:lnTo>
                    <a:pt x="631" y="23"/>
                  </a:lnTo>
                  <a:lnTo>
                    <a:pt x="632" y="19"/>
                  </a:lnTo>
                  <a:lnTo>
                    <a:pt x="632" y="16"/>
                  </a:lnTo>
                  <a:lnTo>
                    <a:pt x="632" y="14"/>
                  </a:lnTo>
                  <a:lnTo>
                    <a:pt x="632" y="11"/>
                  </a:lnTo>
                  <a:lnTo>
                    <a:pt x="631" y="9"/>
                  </a:lnTo>
                  <a:lnTo>
                    <a:pt x="629" y="5"/>
                  </a:lnTo>
                  <a:lnTo>
                    <a:pt x="627" y="3"/>
                  </a:lnTo>
                  <a:lnTo>
                    <a:pt x="625" y="2"/>
                  </a:lnTo>
                  <a:lnTo>
                    <a:pt x="621" y="1"/>
                  </a:lnTo>
                  <a:lnTo>
                    <a:pt x="619" y="0"/>
                  </a:lnTo>
                  <a:lnTo>
                    <a:pt x="616" y="0"/>
                  </a:lnTo>
                  <a:lnTo>
                    <a:pt x="613" y="1"/>
                  </a:lnTo>
                  <a:lnTo>
                    <a:pt x="611" y="2"/>
                  </a:lnTo>
                  <a:lnTo>
                    <a:pt x="607" y="3"/>
                  </a:lnTo>
                  <a:lnTo>
                    <a:pt x="605" y="5"/>
                  </a:lnTo>
                  <a:lnTo>
                    <a:pt x="481" y="159"/>
                  </a:lnTo>
                  <a:lnTo>
                    <a:pt x="418" y="95"/>
                  </a:lnTo>
                  <a:lnTo>
                    <a:pt x="415" y="93"/>
                  </a:lnTo>
                  <a:lnTo>
                    <a:pt x="412" y="91"/>
                  </a:lnTo>
                  <a:lnTo>
                    <a:pt x="409" y="91"/>
                  </a:lnTo>
                  <a:lnTo>
                    <a:pt x="407" y="90"/>
                  </a:lnTo>
                  <a:lnTo>
                    <a:pt x="404" y="91"/>
                  </a:lnTo>
                  <a:lnTo>
                    <a:pt x="400" y="91"/>
                  </a:lnTo>
                  <a:lnTo>
                    <a:pt x="398" y="93"/>
                  </a:lnTo>
                  <a:lnTo>
                    <a:pt x="396" y="95"/>
                  </a:lnTo>
                  <a:lnTo>
                    <a:pt x="307" y="185"/>
                  </a:lnTo>
                  <a:lnTo>
                    <a:pt x="249" y="42"/>
                  </a:lnTo>
                  <a:lnTo>
                    <a:pt x="247" y="39"/>
                  </a:lnTo>
                  <a:lnTo>
                    <a:pt x="244" y="36"/>
                  </a:lnTo>
                  <a:lnTo>
                    <a:pt x="242" y="34"/>
                  </a:lnTo>
                  <a:lnTo>
                    <a:pt x="237" y="33"/>
                  </a:lnTo>
                  <a:lnTo>
                    <a:pt x="234" y="33"/>
                  </a:lnTo>
                  <a:lnTo>
                    <a:pt x="230" y="33"/>
                  </a:lnTo>
                  <a:lnTo>
                    <a:pt x="227" y="35"/>
                  </a:lnTo>
                  <a:lnTo>
                    <a:pt x="224" y="38"/>
                  </a:lnTo>
                  <a:lnTo>
                    <a:pt x="144" y="121"/>
                  </a:lnTo>
                  <a:lnTo>
                    <a:pt x="15" y="121"/>
                  </a:lnTo>
                  <a:lnTo>
                    <a:pt x="12" y="121"/>
                  </a:lnTo>
                  <a:lnTo>
                    <a:pt x="9" y="122"/>
                  </a:lnTo>
                  <a:lnTo>
                    <a:pt x="7" y="123"/>
                  </a:lnTo>
                  <a:lnTo>
                    <a:pt x="5" y="126"/>
                  </a:lnTo>
                  <a:lnTo>
                    <a:pt x="3" y="128"/>
                  </a:lnTo>
                  <a:lnTo>
                    <a:pt x="2" y="130"/>
                  </a:lnTo>
                  <a:lnTo>
                    <a:pt x="0" y="133"/>
                  </a:lnTo>
                  <a:lnTo>
                    <a:pt x="0" y="136"/>
                  </a:lnTo>
                  <a:lnTo>
                    <a:pt x="0" y="138"/>
                  </a:lnTo>
                  <a:lnTo>
                    <a:pt x="2" y="142"/>
                  </a:lnTo>
                  <a:lnTo>
                    <a:pt x="3" y="144"/>
                  </a:lnTo>
                  <a:lnTo>
                    <a:pt x="5" y="146"/>
                  </a:lnTo>
                  <a:lnTo>
                    <a:pt x="7" y="148"/>
                  </a:lnTo>
                  <a:lnTo>
                    <a:pt x="9" y="150"/>
                  </a:lnTo>
                  <a:lnTo>
                    <a:pt x="12" y="150"/>
                  </a:lnTo>
                  <a:lnTo>
                    <a:pt x="15" y="151"/>
                  </a:lnTo>
                  <a:lnTo>
                    <a:pt x="15" y="15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3878490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3">
            <a:lumMod val="50000"/>
          </a:schemeClr>
        </a:solidFill>
        <a:effectLst/>
      </p:bgPr>
    </p:bg>
    <p:spTree>
      <p:nvGrpSpPr>
        <p:cNvPr id="1" name=""/>
        <p:cNvGrpSpPr/>
        <p:nvPr/>
      </p:nvGrpSpPr>
      <p:grpSpPr>
        <a:xfrm>
          <a:off x="0" y="0"/>
          <a:ext cx="0" cy="0"/>
          <a:chOff x="0" y="0"/>
          <a:chExt cx="0" cy="0"/>
        </a:xfrm>
      </p:grpSpPr>
      <p:sp>
        <p:nvSpPr>
          <p:cNvPr id="9" name="Title 8" hidden="1">
            <a:extLst>
              <a:ext uri="{FF2B5EF4-FFF2-40B4-BE49-F238E27FC236}">
                <a16:creationId xmlns:a16="http://schemas.microsoft.com/office/drawing/2014/main" id="{9FDB6406-0CDB-4213-A1B6-DE47D953FED3}"/>
              </a:ext>
            </a:extLst>
          </p:cNvPr>
          <p:cNvSpPr>
            <a:spLocks noGrp="1"/>
          </p:cNvSpPr>
          <p:nvPr>
            <p:ph type="title" idx="4294967295"/>
          </p:nvPr>
        </p:nvSpPr>
        <p:spPr>
          <a:xfrm>
            <a:off x="0" y="365125"/>
            <a:ext cx="10515600" cy="1325563"/>
          </a:xfrm>
        </p:spPr>
        <p:txBody>
          <a:bodyPr/>
          <a:lstStyle/>
          <a:p>
            <a:r>
              <a:rPr lang="en-US" dirty="0"/>
              <a:t>Project analysis slide 3</a:t>
            </a: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75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228600" y="190500"/>
            <a:ext cx="11734800" cy="775597"/>
          </a:xfrm>
          <a:prstGeom prst="rect">
            <a:avLst/>
          </a:prstGeom>
          <a:noFill/>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bg1">
                    <a:lumMod val="85000"/>
                  </a:schemeClr>
                </a:solidFill>
              </a:rPr>
              <a:t>State Action</a:t>
            </a:r>
            <a:br>
              <a:rPr lang="en-US" sz="2800" dirty="0">
                <a:solidFill>
                  <a:schemeClr val="tx1">
                    <a:lumMod val="75000"/>
                    <a:lumOff val="25000"/>
                  </a:schemeClr>
                </a:solidFill>
              </a:rPr>
            </a:b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75000"/>
              </a:schemeClr>
            </a:solidFill>
            <a:tailEnd type="oval"/>
          </a:ln>
        </p:spPr>
        <p:style>
          <a:lnRef idx="1">
            <a:schemeClr val="accent1"/>
          </a:lnRef>
          <a:fillRef idx="0">
            <a:schemeClr val="accent1"/>
          </a:fillRef>
          <a:effectRef idx="0">
            <a:schemeClr val="accent1"/>
          </a:effectRef>
          <a:fontRef idx="minor">
            <a:schemeClr val="tx1"/>
          </a:fontRef>
        </p:style>
      </p:cxnSp>
      <p:sp>
        <p:nvSpPr>
          <p:cNvPr id="2" name="Trapezoid 1">
            <a:extLst>
              <a:ext uri="{FF2B5EF4-FFF2-40B4-BE49-F238E27FC236}">
                <a16:creationId xmlns:a16="http://schemas.microsoft.com/office/drawing/2014/main" id="{5B804E9F-B6B5-41F9-9B63-9AF435FDC2B7}"/>
              </a:ext>
              <a:ext uri="{C183D7F6-B498-43B3-948B-1728B52AA6E4}">
                <adec:decorative xmlns:adec="http://schemas.microsoft.com/office/drawing/2017/decorative" val="1"/>
              </a:ext>
            </a:extLst>
          </p:cNvPr>
          <p:cNvSpPr/>
          <p:nvPr/>
        </p:nvSpPr>
        <p:spPr>
          <a:xfrm rot="5400000">
            <a:off x="-762662" y="2961742"/>
            <a:ext cx="4443191" cy="1647538"/>
          </a:xfrm>
          <a:prstGeom prst="trapezoid">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3F19BFA5-D0CA-4CF0-8499-504D956B6563}"/>
              </a:ext>
            </a:extLst>
          </p:cNvPr>
          <p:cNvSpPr/>
          <p:nvPr/>
        </p:nvSpPr>
        <p:spPr>
          <a:xfrm>
            <a:off x="773133" y="2139323"/>
            <a:ext cx="1371600" cy="246221"/>
          </a:xfrm>
          <a:prstGeom prst="rect">
            <a:avLst/>
          </a:prstGeom>
        </p:spPr>
        <p:txBody>
          <a:bodyPr wrap="square" lIns="0" tIns="0" rIns="0" bIns="0">
            <a:spAutoFit/>
          </a:bodyPr>
          <a:lstStyle/>
          <a:p>
            <a:pPr algn="ctr"/>
            <a:r>
              <a:rPr lang="en-US" sz="1600" b="1" dirty="0">
                <a:solidFill>
                  <a:schemeClr val="bg1"/>
                </a:solidFill>
              </a:rPr>
              <a:t>Starting</a:t>
            </a:r>
          </a:p>
        </p:txBody>
      </p:sp>
      <p:sp>
        <p:nvSpPr>
          <p:cNvPr id="51" name="Rectangle 50">
            <a:extLst>
              <a:ext uri="{FF2B5EF4-FFF2-40B4-BE49-F238E27FC236}">
                <a16:creationId xmlns:a16="http://schemas.microsoft.com/office/drawing/2014/main" id="{8AA18108-5B8B-4147-84A7-D30A16BEC4EA}"/>
              </a:ext>
            </a:extLst>
          </p:cNvPr>
          <p:cNvSpPr/>
          <p:nvPr/>
        </p:nvSpPr>
        <p:spPr>
          <a:xfrm>
            <a:off x="681904" y="2785138"/>
            <a:ext cx="1554057" cy="1198020"/>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We await for the admin to enter a</a:t>
            </a:r>
          </a:p>
          <a:p>
            <a:pPr algn="ctr">
              <a:lnSpc>
                <a:spcPts val="1900"/>
              </a:lnSpc>
            </a:pPr>
            <a:r>
              <a:rPr lang="en-US" sz="1400" dirty="0">
                <a:solidFill>
                  <a:schemeClr val="bg1"/>
                </a:solidFill>
                <a:cs typeface="Segoe UI" panose="020B0502040204020203" pitchFamily="34" charset="0"/>
              </a:rPr>
              <a:t>Password and for the program to setup the pins</a:t>
            </a:r>
          </a:p>
        </p:txBody>
      </p:sp>
      <p:sp>
        <p:nvSpPr>
          <p:cNvPr id="5" name="Trapezoid 4">
            <a:extLst>
              <a:ext uri="{FF2B5EF4-FFF2-40B4-BE49-F238E27FC236}">
                <a16:creationId xmlns:a16="http://schemas.microsoft.com/office/drawing/2014/main" id="{5781B043-EF5B-1C06-4C22-7E7CC52D6B9E}"/>
              </a:ext>
              <a:ext uri="{C183D7F6-B498-43B3-948B-1728B52AA6E4}">
                <adec:decorative xmlns:adec="http://schemas.microsoft.com/office/drawing/2017/decorative" val="1"/>
              </a:ext>
            </a:extLst>
          </p:cNvPr>
          <p:cNvSpPr/>
          <p:nvPr/>
        </p:nvSpPr>
        <p:spPr>
          <a:xfrm rot="5400000">
            <a:off x="1092035" y="2961743"/>
            <a:ext cx="4443191" cy="1647538"/>
          </a:xfrm>
          <a:prstGeom prst="trapezoid">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0BDC9B5A-95CA-99C5-C53D-AC14D30971B5}"/>
              </a:ext>
            </a:extLst>
          </p:cNvPr>
          <p:cNvSpPr/>
          <p:nvPr/>
        </p:nvSpPr>
        <p:spPr>
          <a:xfrm>
            <a:off x="2627830" y="2139323"/>
            <a:ext cx="1371600" cy="246221"/>
          </a:xfrm>
          <a:prstGeom prst="rect">
            <a:avLst/>
          </a:prstGeom>
        </p:spPr>
        <p:txBody>
          <a:bodyPr wrap="square" lIns="0" tIns="0" rIns="0" bIns="0">
            <a:spAutoFit/>
          </a:bodyPr>
          <a:lstStyle/>
          <a:p>
            <a:pPr algn="ctr"/>
            <a:r>
              <a:rPr lang="en-US" sz="1600" b="1" dirty="0">
                <a:solidFill>
                  <a:schemeClr val="bg1"/>
                </a:solidFill>
              </a:rPr>
              <a:t>Secured</a:t>
            </a:r>
          </a:p>
        </p:txBody>
      </p:sp>
      <p:sp>
        <p:nvSpPr>
          <p:cNvPr id="7" name="Rectangle 6">
            <a:extLst>
              <a:ext uri="{FF2B5EF4-FFF2-40B4-BE49-F238E27FC236}">
                <a16:creationId xmlns:a16="http://schemas.microsoft.com/office/drawing/2014/main" id="{3F5BC1A4-A359-D297-AEB3-299312E4DCE8}"/>
              </a:ext>
            </a:extLst>
          </p:cNvPr>
          <p:cNvSpPr/>
          <p:nvPr/>
        </p:nvSpPr>
        <p:spPr>
          <a:xfrm>
            <a:off x="2536601" y="2785138"/>
            <a:ext cx="1554057"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We ask the user to enter the password,</a:t>
            </a:r>
          </a:p>
          <a:p>
            <a:pPr algn="ctr">
              <a:lnSpc>
                <a:spcPts val="1900"/>
              </a:lnSpc>
            </a:pPr>
            <a:r>
              <a:rPr lang="en-US" sz="1400" dirty="0">
                <a:solidFill>
                  <a:schemeClr val="bg1"/>
                </a:solidFill>
                <a:cs typeface="Segoe UI" panose="020B0502040204020203" pitchFamily="34" charset="0"/>
              </a:rPr>
              <a:t>giving them three tries after which they are moved to the “Failed” state.</a:t>
            </a:r>
          </a:p>
        </p:txBody>
      </p:sp>
      <p:sp>
        <p:nvSpPr>
          <p:cNvPr id="10" name="Trapezoid 9">
            <a:extLst>
              <a:ext uri="{FF2B5EF4-FFF2-40B4-BE49-F238E27FC236}">
                <a16:creationId xmlns:a16="http://schemas.microsoft.com/office/drawing/2014/main" id="{578FFB1D-385C-C9CF-0B15-BF21C4FD93CC}"/>
              </a:ext>
              <a:ext uri="{C183D7F6-B498-43B3-948B-1728B52AA6E4}">
                <adec:decorative xmlns:adec="http://schemas.microsoft.com/office/drawing/2017/decorative" val="1"/>
              </a:ext>
            </a:extLst>
          </p:cNvPr>
          <p:cNvSpPr/>
          <p:nvPr/>
        </p:nvSpPr>
        <p:spPr>
          <a:xfrm rot="5400000">
            <a:off x="2946734" y="2961740"/>
            <a:ext cx="4443189" cy="1647538"/>
          </a:xfrm>
          <a:prstGeom prst="trapezoid">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E3A86D8B-8F5E-4126-C50D-42ADA029A28F}"/>
              </a:ext>
            </a:extLst>
          </p:cNvPr>
          <p:cNvSpPr/>
          <p:nvPr/>
        </p:nvSpPr>
        <p:spPr>
          <a:xfrm>
            <a:off x="4482528" y="2139322"/>
            <a:ext cx="1371600" cy="246221"/>
          </a:xfrm>
          <a:prstGeom prst="rect">
            <a:avLst/>
          </a:prstGeom>
        </p:spPr>
        <p:txBody>
          <a:bodyPr wrap="square" lIns="0" tIns="0" rIns="0" bIns="0">
            <a:spAutoFit/>
          </a:bodyPr>
          <a:lstStyle/>
          <a:p>
            <a:pPr algn="ctr"/>
            <a:r>
              <a:rPr lang="en-US" sz="1600" b="1" dirty="0">
                <a:solidFill>
                  <a:schemeClr val="bg1"/>
                </a:solidFill>
              </a:rPr>
              <a:t>Unlocked</a:t>
            </a:r>
          </a:p>
        </p:txBody>
      </p:sp>
      <p:sp>
        <p:nvSpPr>
          <p:cNvPr id="13" name="Rectangle 12">
            <a:extLst>
              <a:ext uri="{FF2B5EF4-FFF2-40B4-BE49-F238E27FC236}">
                <a16:creationId xmlns:a16="http://schemas.microsoft.com/office/drawing/2014/main" id="{36A8A9C6-A111-46C2-4E3A-BA0BD2CDBDFD}"/>
              </a:ext>
            </a:extLst>
          </p:cNvPr>
          <p:cNvSpPr/>
          <p:nvPr/>
        </p:nvSpPr>
        <p:spPr>
          <a:xfrm>
            <a:off x="4391299" y="2785137"/>
            <a:ext cx="1554057" cy="2659959"/>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The door and window motors unwind, thus unlocking the car. The door motor will run for a second clockwise and the window motor for 3 anti-clock wise, the lights will also flash twice.</a:t>
            </a:r>
          </a:p>
        </p:txBody>
      </p:sp>
      <p:sp>
        <p:nvSpPr>
          <p:cNvPr id="15" name="Trapezoid 14">
            <a:extLst>
              <a:ext uri="{FF2B5EF4-FFF2-40B4-BE49-F238E27FC236}">
                <a16:creationId xmlns:a16="http://schemas.microsoft.com/office/drawing/2014/main" id="{50EFB769-C0A9-10AD-F643-9E4A561459AA}"/>
              </a:ext>
              <a:ext uri="{C183D7F6-B498-43B3-948B-1728B52AA6E4}">
                <adec:decorative xmlns:adec="http://schemas.microsoft.com/office/drawing/2017/decorative" val="1"/>
              </a:ext>
            </a:extLst>
          </p:cNvPr>
          <p:cNvSpPr/>
          <p:nvPr/>
        </p:nvSpPr>
        <p:spPr>
          <a:xfrm rot="5400000">
            <a:off x="4801431" y="2961742"/>
            <a:ext cx="4443191" cy="1647538"/>
          </a:xfrm>
          <a:prstGeom prst="trapezoid">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C45F0A76-C8D9-8767-E1D3-0C9F861FE515}"/>
              </a:ext>
            </a:extLst>
          </p:cNvPr>
          <p:cNvSpPr/>
          <p:nvPr/>
        </p:nvSpPr>
        <p:spPr>
          <a:xfrm>
            <a:off x="6337226" y="2139323"/>
            <a:ext cx="1371600" cy="246221"/>
          </a:xfrm>
          <a:prstGeom prst="rect">
            <a:avLst/>
          </a:prstGeom>
        </p:spPr>
        <p:txBody>
          <a:bodyPr wrap="square" lIns="0" tIns="0" rIns="0" bIns="0">
            <a:spAutoFit/>
          </a:bodyPr>
          <a:lstStyle/>
          <a:p>
            <a:pPr algn="ctr"/>
            <a:r>
              <a:rPr lang="en-US" sz="1600" b="1" dirty="0">
                <a:solidFill>
                  <a:schemeClr val="bg1"/>
                </a:solidFill>
              </a:rPr>
              <a:t>Locked</a:t>
            </a:r>
          </a:p>
        </p:txBody>
      </p:sp>
      <p:sp>
        <p:nvSpPr>
          <p:cNvPr id="17" name="Rectangle 16">
            <a:extLst>
              <a:ext uri="{FF2B5EF4-FFF2-40B4-BE49-F238E27FC236}">
                <a16:creationId xmlns:a16="http://schemas.microsoft.com/office/drawing/2014/main" id="{A1492F75-EDE9-BE43-DB17-9BE05965C20B}"/>
              </a:ext>
            </a:extLst>
          </p:cNvPr>
          <p:cNvSpPr/>
          <p:nvPr/>
        </p:nvSpPr>
        <p:spPr>
          <a:xfrm>
            <a:off x="6245997" y="2785138"/>
            <a:ext cx="1554057" cy="1928990"/>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The doo motor will wind up once, thus locking the car. The door motor will run for one second. The lights will flash once Thus locking the user out partially.,</a:t>
            </a:r>
          </a:p>
        </p:txBody>
      </p:sp>
      <p:sp>
        <p:nvSpPr>
          <p:cNvPr id="18" name="Trapezoid 17">
            <a:extLst>
              <a:ext uri="{FF2B5EF4-FFF2-40B4-BE49-F238E27FC236}">
                <a16:creationId xmlns:a16="http://schemas.microsoft.com/office/drawing/2014/main" id="{1B7A11A3-8E45-F094-DA19-E4CAB4A6C617}"/>
              </a:ext>
              <a:ext uri="{C183D7F6-B498-43B3-948B-1728B52AA6E4}">
                <adec:decorative xmlns:adec="http://schemas.microsoft.com/office/drawing/2017/decorative" val="1"/>
              </a:ext>
            </a:extLst>
          </p:cNvPr>
          <p:cNvSpPr/>
          <p:nvPr/>
        </p:nvSpPr>
        <p:spPr>
          <a:xfrm rot="5400000">
            <a:off x="6656129" y="2961741"/>
            <a:ext cx="4443191" cy="1647538"/>
          </a:xfrm>
          <a:prstGeom prst="trapezoid">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CAB465BF-AE7A-7BFB-63DF-4094DC4BB08E}"/>
              </a:ext>
            </a:extLst>
          </p:cNvPr>
          <p:cNvSpPr/>
          <p:nvPr/>
        </p:nvSpPr>
        <p:spPr>
          <a:xfrm>
            <a:off x="8191924" y="2139322"/>
            <a:ext cx="1371600" cy="246221"/>
          </a:xfrm>
          <a:prstGeom prst="rect">
            <a:avLst/>
          </a:prstGeom>
        </p:spPr>
        <p:txBody>
          <a:bodyPr wrap="square" lIns="0" tIns="0" rIns="0" bIns="0">
            <a:spAutoFit/>
          </a:bodyPr>
          <a:lstStyle/>
          <a:p>
            <a:pPr algn="ctr"/>
            <a:r>
              <a:rPr lang="en-US" sz="1600" b="1" dirty="0">
                <a:solidFill>
                  <a:schemeClr val="bg1"/>
                </a:solidFill>
              </a:rPr>
              <a:t>Double Locked</a:t>
            </a:r>
          </a:p>
        </p:txBody>
      </p:sp>
      <p:sp>
        <p:nvSpPr>
          <p:cNvPr id="20" name="Rectangle 19">
            <a:extLst>
              <a:ext uri="{FF2B5EF4-FFF2-40B4-BE49-F238E27FC236}">
                <a16:creationId xmlns:a16="http://schemas.microsoft.com/office/drawing/2014/main" id="{8DFE027B-2D4A-C36B-4172-0903A9176B59}"/>
              </a:ext>
            </a:extLst>
          </p:cNvPr>
          <p:cNvSpPr/>
          <p:nvPr/>
        </p:nvSpPr>
        <p:spPr>
          <a:xfrm>
            <a:off x="8100695" y="2785137"/>
            <a:ext cx="1554057" cy="2416302"/>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The door and window motors wind up again. The door motor will run for another second and the window motors will run for 3 seconds, Thus locking the user out completely.</a:t>
            </a:r>
          </a:p>
        </p:txBody>
      </p:sp>
      <p:sp>
        <p:nvSpPr>
          <p:cNvPr id="21" name="Trapezoid 20">
            <a:extLst>
              <a:ext uri="{FF2B5EF4-FFF2-40B4-BE49-F238E27FC236}">
                <a16:creationId xmlns:a16="http://schemas.microsoft.com/office/drawing/2014/main" id="{54373474-17F9-EBD8-5FF7-D1A17C94AF59}"/>
              </a:ext>
              <a:ext uri="{C183D7F6-B498-43B3-948B-1728B52AA6E4}">
                <adec:decorative xmlns:adec="http://schemas.microsoft.com/office/drawing/2017/decorative" val="1"/>
              </a:ext>
            </a:extLst>
          </p:cNvPr>
          <p:cNvSpPr/>
          <p:nvPr/>
        </p:nvSpPr>
        <p:spPr>
          <a:xfrm rot="5400000">
            <a:off x="8510827" y="2961742"/>
            <a:ext cx="4443191" cy="1647538"/>
          </a:xfrm>
          <a:prstGeom prst="trapezoid">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936992BC-F044-88C9-A173-7DBD44FDC53E}"/>
              </a:ext>
            </a:extLst>
          </p:cNvPr>
          <p:cNvSpPr/>
          <p:nvPr/>
        </p:nvSpPr>
        <p:spPr>
          <a:xfrm>
            <a:off x="10046622" y="2139323"/>
            <a:ext cx="1371600" cy="246221"/>
          </a:xfrm>
          <a:prstGeom prst="rect">
            <a:avLst/>
          </a:prstGeom>
        </p:spPr>
        <p:txBody>
          <a:bodyPr wrap="square" lIns="0" tIns="0" rIns="0" bIns="0">
            <a:spAutoFit/>
          </a:bodyPr>
          <a:lstStyle/>
          <a:p>
            <a:pPr algn="ctr"/>
            <a:r>
              <a:rPr lang="en-US" sz="1600" b="1" dirty="0">
                <a:solidFill>
                  <a:schemeClr val="bg1"/>
                </a:solidFill>
              </a:rPr>
              <a:t>Failed</a:t>
            </a:r>
          </a:p>
        </p:txBody>
      </p:sp>
      <p:sp>
        <p:nvSpPr>
          <p:cNvPr id="23" name="Rectangle 22">
            <a:extLst>
              <a:ext uri="{FF2B5EF4-FFF2-40B4-BE49-F238E27FC236}">
                <a16:creationId xmlns:a16="http://schemas.microsoft.com/office/drawing/2014/main" id="{732410D2-BBC7-B5D3-9098-507DC62B439D}"/>
              </a:ext>
            </a:extLst>
          </p:cNvPr>
          <p:cNvSpPr/>
          <p:nvPr/>
        </p:nvSpPr>
        <p:spPr>
          <a:xfrm>
            <a:off x="9955393" y="2785138"/>
            <a:ext cx="1554057" cy="2903615"/>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If the user guesses the password wrong three times, he will be transferred to this state which does not listens for any other input outside of the one from the reset button on the board, thus requiring specialized personal.</a:t>
            </a:r>
          </a:p>
        </p:txBody>
      </p:sp>
    </p:spTree>
    <p:extLst>
      <p:ext uri="{BB962C8B-B14F-4D97-AF65-F5344CB8AC3E}">
        <p14:creationId xmlns:p14="http://schemas.microsoft.com/office/powerpoint/2010/main" val="8225691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3">
            <a:lumMod val="50000"/>
          </a:schemeClr>
        </a:solidFill>
        <a:effectLst/>
      </p:bgPr>
    </p:bg>
    <p:spTree>
      <p:nvGrpSpPr>
        <p:cNvPr id="1" name=""/>
        <p:cNvGrpSpPr/>
        <p:nvPr/>
      </p:nvGrpSpPr>
      <p:grpSpPr>
        <a:xfrm>
          <a:off x="0" y="0"/>
          <a:ext cx="0" cy="0"/>
          <a:chOff x="0" y="0"/>
          <a:chExt cx="0" cy="0"/>
        </a:xfrm>
      </p:grpSpPr>
      <p:sp>
        <p:nvSpPr>
          <p:cNvPr id="7" name="Title 6" hidden="1">
            <a:extLst>
              <a:ext uri="{FF2B5EF4-FFF2-40B4-BE49-F238E27FC236}">
                <a16:creationId xmlns:a16="http://schemas.microsoft.com/office/drawing/2014/main" id="{ED2F5393-91A3-4102-A584-E902285C507A}"/>
              </a:ext>
            </a:extLst>
          </p:cNvPr>
          <p:cNvSpPr>
            <a:spLocks noGrp="1"/>
          </p:cNvSpPr>
          <p:nvPr>
            <p:ph type="title" idx="4294967295"/>
          </p:nvPr>
        </p:nvSpPr>
        <p:spPr>
          <a:xfrm>
            <a:off x="0" y="365125"/>
            <a:ext cx="10515600" cy="1325563"/>
          </a:xfrm>
        </p:spPr>
        <p:txBody>
          <a:bodyPr/>
          <a:lstStyle/>
          <a:p>
            <a:r>
              <a:rPr lang="en-US" dirty="0"/>
              <a:t>Project analysis slide 4</a:t>
            </a: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75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228600" y="190500"/>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bg1">
                    <a:lumMod val="85000"/>
                  </a:schemeClr>
                </a:solidFill>
              </a:rPr>
              <a:t>State Analysis</a:t>
            </a:r>
            <a:br>
              <a:rPr lang="en-US" sz="2800" dirty="0">
                <a:solidFill>
                  <a:schemeClr val="tx1">
                    <a:lumMod val="75000"/>
                    <a:lumOff val="25000"/>
                  </a:schemeClr>
                </a:solidFill>
              </a:rPr>
            </a:b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75000"/>
              </a:schemeClr>
            </a:solidFill>
            <a:tailEnd type="oval"/>
          </a:ln>
        </p:spPr>
        <p:style>
          <a:lnRef idx="1">
            <a:schemeClr val="accent1"/>
          </a:lnRef>
          <a:fillRef idx="0">
            <a:schemeClr val="accent1"/>
          </a:fillRef>
          <a:effectRef idx="0">
            <a:schemeClr val="accent1"/>
          </a:effectRef>
          <a:fontRef idx="minor">
            <a:schemeClr val="tx1"/>
          </a:fontRef>
        </p:style>
      </p:cxnSp>
      <p:sp>
        <p:nvSpPr>
          <p:cNvPr id="3" name="Oval 2">
            <a:extLst>
              <a:ext uri="{FF2B5EF4-FFF2-40B4-BE49-F238E27FC236}">
                <a16:creationId xmlns:a16="http://schemas.microsoft.com/office/drawing/2014/main" id="{9F23A462-D581-4451-A275-D8FA412E142C}"/>
              </a:ext>
              <a:ext uri="{C183D7F6-B498-43B3-948B-1728B52AA6E4}">
                <adec:decorative xmlns:adec="http://schemas.microsoft.com/office/drawing/2017/decorative" val="1"/>
              </a:ext>
            </a:extLst>
          </p:cNvPr>
          <p:cNvSpPr/>
          <p:nvPr/>
        </p:nvSpPr>
        <p:spPr>
          <a:xfrm>
            <a:off x="489517" y="2635250"/>
            <a:ext cx="1587500" cy="15875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Starting</a:t>
            </a:r>
          </a:p>
        </p:txBody>
      </p:sp>
      <p:sp>
        <p:nvSpPr>
          <p:cNvPr id="42" name="Oval 41">
            <a:extLst>
              <a:ext uri="{FF2B5EF4-FFF2-40B4-BE49-F238E27FC236}">
                <a16:creationId xmlns:a16="http://schemas.microsoft.com/office/drawing/2014/main" id="{233E4AB5-6FC1-4454-9421-850EF5A4ADF3}"/>
              </a:ext>
              <a:ext uri="{C183D7F6-B498-43B3-948B-1728B52AA6E4}">
                <adec:decorative xmlns:adec="http://schemas.microsoft.com/office/drawing/2017/decorative" val="1"/>
              </a:ext>
            </a:extLst>
          </p:cNvPr>
          <p:cNvSpPr/>
          <p:nvPr/>
        </p:nvSpPr>
        <p:spPr>
          <a:xfrm>
            <a:off x="5182114" y="1047750"/>
            <a:ext cx="1587500" cy="1587500"/>
          </a:xfrm>
          <a:prstGeom prst="ellips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Unlocked</a:t>
            </a:r>
          </a:p>
        </p:txBody>
      </p:sp>
      <p:sp>
        <p:nvSpPr>
          <p:cNvPr id="73" name="Oval 72">
            <a:extLst>
              <a:ext uri="{FF2B5EF4-FFF2-40B4-BE49-F238E27FC236}">
                <a16:creationId xmlns:a16="http://schemas.microsoft.com/office/drawing/2014/main" id="{40123448-0B37-4226-B26C-A3081E6142FF}"/>
              </a:ext>
              <a:ext uri="{C183D7F6-B498-43B3-948B-1728B52AA6E4}">
                <adec:decorative xmlns:adec="http://schemas.microsoft.com/office/drawing/2017/decorative" val="1"/>
              </a:ext>
            </a:extLst>
          </p:cNvPr>
          <p:cNvSpPr/>
          <p:nvPr/>
        </p:nvSpPr>
        <p:spPr>
          <a:xfrm>
            <a:off x="7312025" y="2635250"/>
            <a:ext cx="1587500" cy="1587500"/>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Locked</a:t>
            </a:r>
          </a:p>
        </p:txBody>
      </p:sp>
      <p:sp>
        <p:nvSpPr>
          <p:cNvPr id="76" name="Oval 75">
            <a:extLst>
              <a:ext uri="{FF2B5EF4-FFF2-40B4-BE49-F238E27FC236}">
                <a16:creationId xmlns:a16="http://schemas.microsoft.com/office/drawing/2014/main" id="{D3287700-63E7-4098-B825-B123C11134C1}"/>
              </a:ext>
              <a:ext uri="{C183D7F6-B498-43B3-948B-1728B52AA6E4}">
                <adec:decorative xmlns:adec="http://schemas.microsoft.com/office/drawing/2017/decorative" val="1"/>
              </a:ext>
            </a:extLst>
          </p:cNvPr>
          <p:cNvSpPr/>
          <p:nvPr/>
        </p:nvSpPr>
        <p:spPr>
          <a:xfrm>
            <a:off x="9874711" y="2635250"/>
            <a:ext cx="1587500" cy="15875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Double Locked</a:t>
            </a:r>
          </a:p>
        </p:txBody>
      </p:sp>
      <p:sp>
        <p:nvSpPr>
          <p:cNvPr id="4" name="Oval 3">
            <a:extLst>
              <a:ext uri="{FF2B5EF4-FFF2-40B4-BE49-F238E27FC236}">
                <a16:creationId xmlns:a16="http://schemas.microsoft.com/office/drawing/2014/main" id="{1A5C9167-B1A3-C7B9-EE53-CDD48D5EB694}"/>
              </a:ext>
              <a:ext uri="{C183D7F6-B498-43B3-948B-1728B52AA6E4}">
                <adec:decorative xmlns:adec="http://schemas.microsoft.com/office/drawing/2017/decorative" val="1"/>
              </a:ext>
            </a:extLst>
          </p:cNvPr>
          <p:cNvSpPr/>
          <p:nvPr/>
        </p:nvSpPr>
        <p:spPr>
          <a:xfrm>
            <a:off x="5182114" y="4222750"/>
            <a:ext cx="1587500" cy="1587500"/>
          </a:xfrm>
          <a:prstGeom prst="ellips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Failed</a:t>
            </a:r>
          </a:p>
        </p:txBody>
      </p:sp>
      <p:sp>
        <p:nvSpPr>
          <p:cNvPr id="5" name="Oval 4">
            <a:extLst>
              <a:ext uri="{FF2B5EF4-FFF2-40B4-BE49-F238E27FC236}">
                <a16:creationId xmlns:a16="http://schemas.microsoft.com/office/drawing/2014/main" id="{E70BB01A-B8D0-06C9-232F-C955716B8E1F}"/>
              </a:ext>
              <a:ext uri="{C183D7F6-B498-43B3-948B-1728B52AA6E4}">
                <adec:decorative xmlns:adec="http://schemas.microsoft.com/office/drawing/2017/decorative" val="1"/>
              </a:ext>
            </a:extLst>
          </p:cNvPr>
          <p:cNvSpPr/>
          <p:nvPr/>
        </p:nvSpPr>
        <p:spPr>
          <a:xfrm>
            <a:off x="3052201" y="2635250"/>
            <a:ext cx="1587500" cy="15875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Secured</a:t>
            </a:r>
          </a:p>
        </p:txBody>
      </p:sp>
      <p:cxnSp>
        <p:nvCxnSpPr>
          <p:cNvPr id="9" name="Straight Arrow Connector 8">
            <a:extLst>
              <a:ext uri="{FF2B5EF4-FFF2-40B4-BE49-F238E27FC236}">
                <a16:creationId xmlns:a16="http://schemas.microsoft.com/office/drawing/2014/main" id="{EFDB8999-8D15-2B9E-BE4E-9E068881FE7F}"/>
              </a:ext>
            </a:extLst>
          </p:cNvPr>
          <p:cNvCxnSpPr>
            <a:stCxn id="3" idx="6"/>
            <a:endCxn id="5" idx="2"/>
          </p:cNvCxnSpPr>
          <p:nvPr/>
        </p:nvCxnSpPr>
        <p:spPr>
          <a:xfrm>
            <a:off x="2077017" y="3429000"/>
            <a:ext cx="975184" cy="0"/>
          </a:xfrm>
          <a:prstGeom prst="straightConnector1">
            <a:avLst/>
          </a:prstGeom>
          <a:ln>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19" name="Connector: Elbow 18">
            <a:extLst>
              <a:ext uri="{FF2B5EF4-FFF2-40B4-BE49-F238E27FC236}">
                <a16:creationId xmlns:a16="http://schemas.microsoft.com/office/drawing/2014/main" id="{BA72C6DB-D13D-9294-7463-CC219A94A938}"/>
              </a:ext>
            </a:extLst>
          </p:cNvPr>
          <p:cNvCxnSpPr>
            <a:stCxn id="5" idx="7"/>
            <a:endCxn id="42" idx="2"/>
          </p:cNvCxnSpPr>
          <p:nvPr/>
        </p:nvCxnSpPr>
        <p:spPr>
          <a:xfrm rot="5400000" flipH="1" flipV="1">
            <a:off x="4281548" y="1967169"/>
            <a:ext cx="1026234" cy="774897"/>
          </a:xfrm>
          <a:prstGeom prst="bentConnector2">
            <a:avLst/>
          </a:prstGeom>
          <a:ln>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2" name="Connector: Elbow 21">
            <a:extLst>
              <a:ext uri="{FF2B5EF4-FFF2-40B4-BE49-F238E27FC236}">
                <a16:creationId xmlns:a16="http://schemas.microsoft.com/office/drawing/2014/main" id="{712B4623-31A6-9465-D090-F73A02C52354}"/>
              </a:ext>
            </a:extLst>
          </p:cNvPr>
          <p:cNvCxnSpPr>
            <a:stCxn id="5" idx="5"/>
            <a:endCxn id="4" idx="2"/>
          </p:cNvCxnSpPr>
          <p:nvPr/>
        </p:nvCxnSpPr>
        <p:spPr>
          <a:xfrm rot="16200000" flipH="1">
            <a:off x="4281548" y="4115934"/>
            <a:ext cx="1026234" cy="774897"/>
          </a:xfrm>
          <a:prstGeom prst="bentConnector2">
            <a:avLst/>
          </a:prstGeom>
          <a:ln>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0" name="Connector: Elbow 29">
            <a:extLst>
              <a:ext uri="{FF2B5EF4-FFF2-40B4-BE49-F238E27FC236}">
                <a16:creationId xmlns:a16="http://schemas.microsoft.com/office/drawing/2014/main" id="{0C4EF41A-A0C7-B800-FE02-ADC1B5E0D039}"/>
              </a:ext>
            </a:extLst>
          </p:cNvPr>
          <p:cNvCxnSpPr>
            <a:stCxn id="42" idx="5"/>
            <a:endCxn id="73" idx="2"/>
          </p:cNvCxnSpPr>
          <p:nvPr/>
        </p:nvCxnSpPr>
        <p:spPr>
          <a:xfrm rot="16200000" flipH="1">
            <a:off x="6411460" y="2528435"/>
            <a:ext cx="1026234" cy="774895"/>
          </a:xfrm>
          <a:prstGeom prst="bentConnector2">
            <a:avLst/>
          </a:prstGeom>
          <a:ln>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32" name="Connector: Elbow 31">
            <a:extLst>
              <a:ext uri="{FF2B5EF4-FFF2-40B4-BE49-F238E27FC236}">
                <a16:creationId xmlns:a16="http://schemas.microsoft.com/office/drawing/2014/main" id="{7A660D57-210D-E622-B84B-4578D874BC81}"/>
              </a:ext>
            </a:extLst>
          </p:cNvPr>
          <p:cNvCxnSpPr>
            <a:stCxn id="73" idx="6"/>
            <a:endCxn id="76" idx="2"/>
          </p:cNvCxnSpPr>
          <p:nvPr/>
        </p:nvCxnSpPr>
        <p:spPr>
          <a:xfrm>
            <a:off x="8899525" y="3429000"/>
            <a:ext cx="975186" cy="12700"/>
          </a:xfrm>
          <a:prstGeom prst="bentConnector3">
            <a:avLst/>
          </a:prstGeom>
          <a:ln>
            <a:solidFill>
              <a:schemeClr val="accent3">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4" name="Connector: Elbow 33">
            <a:extLst>
              <a:ext uri="{FF2B5EF4-FFF2-40B4-BE49-F238E27FC236}">
                <a16:creationId xmlns:a16="http://schemas.microsoft.com/office/drawing/2014/main" id="{33C6B619-DDD5-CF37-1A28-706D2762EA87}"/>
              </a:ext>
            </a:extLst>
          </p:cNvPr>
          <p:cNvCxnSpPr>
            <a:stCxn id="76" idx="0"/>
            <a:endCxn id="42" idx="7"/>
          </p:cNvCxnSpPr>
          <p:nvPr/>
        </p:nvCxnSpPr>
        <p:spPr>
          <a:xfrm rot="16200000" flipV="1">
            <a:off x="7925288" y="-107924"/>
            <a:ext cx="1355016" cy="4131331"/>
          </a:xfrm>
          <a:prstGeom prst="bentConnector3">
            <a:avLst>
              <a:gd name="adj1" fmla="val 134028"/>
            </a:avLst>
          </a:prstGeom>
          <a:ln>
            <a:solidFill>
              <a:schemeClr val="accent3">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6" name="Connector: Elbow 35">
            <a:extLst>
              <a:ext uri="{FF2B5EF4-FFF2-40B4-BE49-F238E27FC236}">
                <a16:creationId xmlns:a16="http://schemas.microsoft.com/office/drawing/2014/main" id="{D17F683F-2624-8D02-C9BA-CC23C555B07E}"/>
              </a:ext>
            </a:extLst>
          </p:cNvPr>
          <p:cNvCxnSpPr>
            <a:stCxn id="73" idx="0"/>
            <a:endCxn id="42" idx="6"/>
          </p:cNvCxnSpPr>
          <p:nvPr/>
        </p:nvCxnSpPr>
        <p:spPr>
          <a:xfrm rot="16200000" flipV="1">
            <a:off x="7040820" y="1570294"/>
            <a:ext cx="793750" cy="1336161"/>
          </a:xfrm>
          <a:prstGeom prst="bentConnector2">
            <a:avLst/>
          </a:prstGeom>
          <a:ln>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437681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p:cNvGrpSpPr/>
        <p:nvPr/>
      </p:nvGrpSpPr>
      <p:grpSpPr>
        <a:xfrm>
          <a:off x="0" y="0"/>
          <a:ext cx="0" cy="0"/>
          <a:chOff x="0" y="0"/>
          <a:chExt cx="0" cy="0"/>
        </a:xfrm>
      </p:grpSpPr>
      <p:sp>
        <p:nvSpPr>
          <p:cNvPr id="7" name="Title 6" hidden="1">
            <a:extLst>
              <a:ext uri="{FF2B5EF4-FFF2-40B4-BE49-F238E27FC236}">
                <a16:creationId xmlns:a16="http://schemas.microsoft.com/office/drawing/2014/main" id="{ED2F5393-91A3-4102-A584-E902285C507A}"/>
              </a:ext>
            </a:extLst>
          </p:cNvPr>
          <p:cNvSpPr>
            <a:spLocks noGrp="1"/>
          </p:cNvSpPr>
          <p:nvPr>
            <p:ph type="title" idx="4294967295"/>
          </p:nvPr>
        </p:nvSpPr>
        <p:spPr>
          <a:xfrm>
            <a:off x="0" y="365125"/>
            <a:ext cx="10515600" cy="1325563"/>
          </a:xfrm>
        </p:spPr>
        <p:txBody>
          <a:bodyPr/>
          <a:lstStyle/>
          <a:p>
            <a:r>
              <a:rPr lang="en-US" dirty="0"/>
              <a:t>Project analysis slide 4</a:t>
            </a: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75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228600" y="190500"/>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bg1">
                    <a:lumMod val="85000"/>
                  </a:schemeClr>
                </a:solidFill>
              </a:rPr>
              <a:t>State Analysis UML</a:t>
            </a: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75000"/>
              </a:schemeClr>
            </a:solidFill>
            <a:tailEnd type="ova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1D36A3AF-5A52-2EE4-0A64-35B8D35AAD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69754" y="910696"/>
            <a:ext cx="6652491" cy="5753087"/>
          </a:xfrm>
          <a:prstGeom prst="rect">
            <a:avLst/>
          </a:prstGeom>
        </p:spPr>
      </p:pic>
    </p:spTree>
    <p:extLst>
      <p:ext uri="{BB962C8B-B14F-4D97-AF65-F5344CB8AC3E}">
        <p14:creationId xmlns:p14="http://schemas.microsoft.com/office/powerpoint/2010/main" val="23135057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3">
            <a:lumMod val="50000"/>
          </a:schemeClr>
        </a:solidFill>
        <a:effectLst/>
      </p:bgPr>
    </p:bg>
    <p:spTree>
      <p:nvGrpSpPr>
        <p:cNvPr id="1" name=""/>
        <p:cNvGrpSpPr/>
        <p:nvPr/>
      </p:nvGrpSpPr>
      <p:grpSpPr>
        <a:xfrm>
          <a:off x="0" y="0"/>
          <a:ext cx="0" cy="0"/>
          <a:chOff x="0" y="0"/>
          <a:chExt cx="0" cy="0"/>
        </a:xfrm>
      </p:grpSpPr>
      <p:pic>
        <p:nvPicPr>
          <p:cNvPr id="3" name="Imagine 2">
            <a:extLst>
              <a:ext uri="{FF2B5EF4-FFF2-40B4-BE49-F238E27FC236}">
                <a16:creationId xmlns:a16="http://schemas.microsoft.com/office/drawing/2014/main" id="{4126935A-8CCE-4178-B468-59F1BA479C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01584" y="1365022"/>
            <a:ext cx="7408382" cy="4127955"/>
          </a:xfrm>
          <a:prstGeom prst="rect">
            <a:avLst/>
          </a:prstGeom>
        </p:spPr>
      </p:pic>
      <p:sp>
        <p:nvSpPr>
          <p:cNvPr id="7" name="Title 6" hidden="1">
            <a:extLst>
              <a:ext uri="{FF2B5EF4-FFF2-40B4-BE49-F238E27FC236}">
                <a16:creationId xmlns:a16="http://schemas.microsoft.com/office/drawing/2014/main" id="{ED2F5393-91A3-4102-A584-E902285C507A}"/>
              </a:ext>
            </a:extLst>
          </p:cNvPr>
          <p:cNvSpPr>
            <a:spLocks noGrp="1"/>
          </p:cNvSpPr>
          <p:nvPr>
            <p:ph type="title" idx="4294967295"/>
          </p:nvPr>
        </p:nvSpPr>
        <p:spPr>
          <a:xfrm>
            <a:off x="0" y="365125"/>
            <a:ext cx="10515600" cy="1325563"/>
          </a:xfrm>
        </p:spPr>
        <p:txBody>
          <a:bodyPr/>
          <a:lstStyle/>
          <a:p>
            <a:r>
              <a:rPr lang="en-US" dirty="0"/>
              <a:t>Project analysis slide 4</a:t>
            </a: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75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228600" y="159239"/>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o-RO" sz="2800" b="1" dirty="0">
                <a:solidFill>
                  <a:schemeClr val="bg1"/>
                </a:solidFill>
              </a:rPr>
              <a:t>Central </a:t>
            </a:r>
            <a:r>
              <a:rPr lang="ro-RO" sz="2800" b="1" dirty="0" err="1">
                <a:solidFill>
                  <a:schemeClr val="bg1"/>
                </a:solidFill>
              </a:rPr>
              <a:t>Door</a:t>
            </a:r>
            <a:r>
              <a:rPr lang="ro-RO" sz="2800" b="1" dirty="0">
                <a:solidFill>
                  <a:schemeClr val="bg1"/>
                </a:solidFill>
              </a:rPr>
              <a:t> </a:t>
            </a:r>
            <a:r>
              <a:rPr lang="ro-RO" sz="2800" b="1" dirty="0" err="1">
                <a:solidFill>
                  <a:schemeClr val="bg1"/>
                </a:solidFill>
              </a:rPr>
              <a:t>Locking</a:t>
            </a:r>
            <a:r>
              <a:rPr lang="ro-RO" sz="2800" b="1" dirty="0">
                <a:solidFill>
                  <a:schemeClr val="bg1"/>
                </a:solidFill>
              </a:rPr>
              <a:t> </a:t>
            </a:r>
            <a:br>
              <a:rPr lang="en-US" sz="2800" dirty="0">
                <a:solidFill>
                  <a:schemeClr val="tx1">
                    <a:lumMod val="75000"/>
                    <a:lumOff val="25000"/>
                  </a:schemeClr>
                </a:solidFill>
              </a:rPr>
            </a:b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75000"/>
              </a:schemeClr>
            </a:solidFill>
            <a:tailEnd type="oval"/>
          </a:ln>
        </p:spPr>
        <p:style>
          <a:lnRef idx="1">
            <a:schemeClr val="accent1"/>
          </a:lnRef>
          <a:fillRef idx="0">
            <a:schemeClr val="accent1"/>
          </a:fillRef>
          <a:effectRef idx="0">
            <a:schemeClr val="accent1"/>
          </a:effectRef>
          <a:fontRef idx="minor">
            <a:schemeClr val="tx1"/>
          </a:fontRef>
        </p:style>
      </p:cxnSp>
      <p:sp>
        <p:nvSpPr>
          <p:cNvPr id="4" name="CasetăText 3">
            <a:extLst>
              <a:ext uri="{FF2B5EF4-FFF2-40B4-BE49-F238E27FC236}">
                <a16:creationId xmlns:a16="http://schemas.microsoft.com/office/drawing/2014/main" id="{015A30EA-C0B3-473C-ADCD-7AE9547E4BE0}"/>
              </a:ext>
            </a:extLst>
          </p:cNvPr>
          <p:cNvSpPr txBox="1"/>
          <p:nvPr/>
        </p:nvSpPr>
        <p:spPr>
          <a:xfrm>
            <a:off x="342655" y="2782669"/>
            <a:ext cx="3743570" cy="646331"/>
          </a:xfrm>
          <a:prstGeom prst="rect">
            <a:avLst/>
          </a:prstGeom>
          <a:noFill/>
        </p:spPr>
        <p:txBody>
          <a:bodyPr wrap="square" rtlCol="0">
            <a:spAutoFit/>
          </a:bodyPr>
          <a:lstStyle/>
          <a:p>
            <a:r>
              <a:rPr lang="ro-RO" sz="3600" b="1" dirty="0">
                <a:solidFill>
                  <a:schemeClr val="bg1"/>
                </a:solidFill>
                <a:latin typeface="+mj-lt"/>
              </a:rPr>
              <a:t>Circuit </a:t>
            </a:r>
            <a:r>
              <a:rPr lang="ro-RO" sz="3600" b="1" dirty="0" err="1">
                <a:solidFill>
                  <a:schemeClr val="bg1"/>
                </a:solidFill>
                <a:latin typeface="+mj-lt"/>
              </a:rPr>
              <a:t>Diagram</a:t>
            </a:r>
            <a:endParaRPr lang="ro-RO" sz="3600" b="1" dirty="0">
              <a:solidFill>
                <a:schemeClr val="bg1"/>
              </a:solidFill>
              <a:latin typeface="+mj-lt"/>
            </a:endParaRPr>
          </a:p>
        </p:txBody>
      </p:sp>
    </p:spTree>
    <p:extLst>
      <p:ext uri="{BB962C8B-B14F-4D97-AF65-F5344CB8AC3E}">
        <p14:creationId xmlns:p14="http://schemas.microsoft.com/office/powerpoint/2010/main" val="38207732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3">
            <a:lumMod val="50000"/>
          </a:schemeClr>
        </a:solidFill>
        <a:effectLst/>
      </p:bgPr>
    </p:bg>
    <p:spTree>
      <p:nvGrpSpPr>
        <p:cNvPr id="1" name=""/>
        <p:cNvGrpSpPr/>
        <p:nvPr/>
      </p:nvGrpSpPr>
      <p:grpSpPr>
        <a:xfrm>
          <a:off x="0" y="0"/>
          <a:ext cx="0" cy="0"/>
          <a:chOff x="0" y="0"/>
          <a:chExt cx="0" cy="0"/>
        </a:xfrm>
      </p:grpSpPr>
      <p:sp>
        <p:nvSpPr>
          <p:cNvPr id="7" name="Title 6" hidden="1">
            <a:extLst>
              <a:ext uri="{FF2B5EF4-FFF2-40B4-BE49-F238E27FC236}">
                <a16:creationId xmlns:a16="http://schemas.microsoft.com/office/drawing/2014/main" id="{ED2F5393-91A3-4102-A584-E902285C507A}"/>
              </a:ext>
            </a:extLst>
          </p:cNvPr>
          <p:cNvSpPr>
            <a:spLocks noGrp="1"/>
          </p:cNvSpPr>
          <p:nvPr>
            <p:ph type="title" idx="4294967295"/>
          </p:nvPr>
        </p:nvSpPr>
        <p:spPr>
          <a:xfrm>
            <a:off x="0" y="365125"/>
            <a:ext cx="10515600" cy="1325563"/>
          </a:xfrm>
        </p:spPr>
        <p:txBody>
          <a:bodyPr/>
          <a:lstStyle/>
          <a:p>
            <a:r>
              <a:rPr lang="en-US" dirty="0"/>
              <a:t>Project analysis slide 4</a:t>
            </a: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75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228600" y="159239"/>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o-RO" sz="2800" b="1" dirty="0">
                <a:solidFill>
                  <a:schemeClr val="bg1"/>
                </a:solidFill>
              </a:rPr>
              <a:t>Central </a:t>
            </a:r>
            <a:r>
              <a:rPr lang="ro-RO" sz="2800" b="1" dirty="0" err="1">
                <a:solidFill>
                  <a:schemeClr val="bg1"/>
                </a:solidFill>
              </a:rPr>
              <a:t>Door</a:t>
            </a:r>
            <a:r>
              <a:rPr lang="ro-RO" sz="2800" b="1" dirty="0">
                <a:solidFill>
                  <a:schemeClr val="bg1"/>
                </a:solidFill>
              </a:rPr>
              <a:t> </a:t>
            </a:r>
            <a:r>
              <a:rPr lang="ro-RO" sz="2800" b="1" dirty="0" err="1">
                <a:solidFill>
                  <a:schemeClr val="bg1"/>
                </a:solidFill>
              </a:rPr>
              <a:t>Locking</a:t>
            </a:r>
            <a:r>
              <a:rPr lang="ro-RO" sz="2800" b="1" dirty="0">
                <a:solidFill>
                  <a:schemeClr val="bg1"/>
                </a:solidFill>
              </a:rPr>
              <a:t> </a:t>
            </a:r>
            <a:br>
              <a:rPr lang="en-US" sz="2800" dirty="0">
                <a:solidFill>
                  <a:schemeClr val="tx1">
                    <a:lumMod val="75000"/>
                    <a:lumOff val="25000"/>
                  </a:schemeClr>
                </a:solidFill>
              </a:rPr>
            </a:b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75000"/>
              </a:schemeClr>
            </a:solidFill>
            <a:tailEnd type="oval"/>
          </a:ln>
        </p:spPr>
        <p:style>
          <a:lnRef idx="1">
            <a:schemeClr val="accent1"/>
          </a:lnRef>
          <a:fillRef idx="0">
            <a:schemeClr val="accent1"/>
          </a:fillRef>
          <a:effectRef idx="0">
            <a:schemeClr val="accent1"/>
          </a:effectRef>
          <a:fontRef idx="minor">
            <a:schemeClr val="tx1"/>
          </a:fontRef>
        </p:style>
      </p:cxnSp>
      <p:sp>
        <p:nvSpPr>
          <p:cNvPr id="4" name="CasetăText 3">
            <a:extLst>
              <a:ext uri="{FF2B5EF4-FFF2-40B4-BE49-F238E27FC236}">
                <a16:creationId xmlns:a16="http://schemas.microsoft.com/office/drawing/2014/main" id="{015A30EA-C0B3-473C-ADCD-7AE9547E4BE0}"/>
              </a:ext>
            </a:extLst>
          </p:cNvPr>
          <p:cNvSpPr txBox="1"/>
          <p:nvPr/>
        </p:nvSpPr>
        <p:spPr>
          <a:xfrm>
            <a:off x="3813907" y="1525835"/>
            <a:ext cx="4291868" cy="646331"/>
          </a:xfrm>
          <a:prstGeom prst="rect">
            <a:avLst/>
          </a:prstGeom>
          <a:noFill/>
        </p:spPr>
        <p:txBody>
          <a:bodyPr wrap="square" rtlCol="0">
            <a:spAutoFit/>
          </a:bodyPr>
          <a:lstStyle/>
          <a:p>
            <a:r>
              <a:rPr lang="ro-RO" sz="3600" b="1" dirty="0" err="1">
                <a:solidFill>
                  <a:schemeClr val="bg1"/>
                </a:solidFill>
                <a:latin typeface="+mj-lt"/>
              </a:rPr>
              <a:t>Used</a:t>
            </a:r>
            <a:r>
              <a:rPr lang="ro-RO" sz="3600" b="1" dirty="0">
                <a:solidFill>
                  <a:schemeClr val="bg1"/>
                </a:solidFill>
                <a:latin typeface="+mj-lt"/>
              </a:rPr>
              <a:t> </a:t>
            </a:r>
            <a:r>
              <a:rPr lang="ro-RO" sz="3600" b="1" dirty="0" err="1">
                <a:solidFill>
                  <a:schemeClr val="bg1"/>
                </a:solidFill>
                <a:latin typeface="+mj-lt"/>
              </a:rPr>
              <a:t>Components</a:t>
            </a:r>
            <a:endParaRPr lang="ro-RO" sz="3600" b="1" dirty="0">
              <a:solidFill>
                <a:schemeClr val="bg1"/>
              </a:solidFill>
              <a:latin typeface="+mj-lt"/>
            </a:endParaRPr>
          </a:p>
        </p:txBody>
      </p:sp>
      <p:sp>
        <p:nvSpPr>
          <p:cNvPr id="9" name="CasetăText 8">
            <a:extLst>
              <a:ext uri="{FF2B5EF4-FFF2-40B4-BE49-F238E27FC236}">
                <a16:creationId xmlns:a16="http://schemas.microsoft.com/office/drawing/2014/main" id="{C314D4A5-F8B4-4680-A625-E360FDA980C6}"/>
              </a:ext>
            </a:extLst>
          </p:cNvPr>
          <p:cNvSpPr txBox="1"/>
          <p:nvPr/>
        </p:nvSpPr>
        <p:spPr>
          <a:xfrm>
            <a:off x="228600" y="2375367"/>
            <a:ext cx="4349262" cy="3170099"/>
          </a:xfrm>
          <a:prstGeom prst="rect">
            <a:avLst/>
          </a:prstGeom>
          <a:noFill/>
        </p:spPr>
        <p:txBody>
          <a:bodyPr wrap="square" rtlCol="0">
            <a:spAutoFit/>
          </a:bodyPr>
          <a:lstStyle/>
          <a:p>
            <a:pPr marL="342900" indent="-342900">
              <a:buFont typeface="Arial" panose="020B0604020202020204" pitchFamily="34" charset="0"/>
              <a:buChar char="•"/>
            </a:pPr>
            <a:r>
              <a:rPr lang="ro-RO" sz="2000" b="1" dirty="0" err="1">
                <a:solidFill>
                  <a:schemeClr val="bg1"/>
                </a:solidFill>
                <a:latin typeface="+mj-lt"/>
              </a:rPr>
              <a:t>Arduino</a:t>
            </a:r>
            <a:r>
              <a:rPr lang="ro-RO" sz="2000" b="1" dirty="0">
                <a:solidFill>
                  <a:schemeClr val="bg1"/>
                </a:solidFill>
                <a:latin typeface="+mj-lt"/>
              </a:rPr>
              <a:t> </a:t>
            </a:r>
            <a:r>
              <a:rPr lang="ro-RO" sz="2000" b="1" dirty="0" err="1">
                <a:solidFill>
                  <a:schemeClr val="bg1"/>
                </a:solidFill>
                <a:latin typeface="+mj-lt"/>
              </a:rPr>
              <a:t>Uno</a:t>
            </a:r>
            <a:endParaRPr lang="ro-RO" sz="2000" b="1" dirty="0">
              <a:solidFill>
                <a:schemeClr val="bg1"/>
              </a:solidFill>
              <a:latin typeface="+mj-lt"/>
            </a:endParaRPr>
          </a:p>
          <a:p>
            <a:pPr marL="342900" indent="-342900">
              <a:buFont typeface="Arial" panose="020B0604020202020204" pitchFamily="34" charset="0"/>
              <a:buChar char="•"/>
            </a:pPr>
            <a:r>
              <a:rPr lang="ro-RO" sz="2000" b="1" dirty="0">
                <a:solidFill>
                  <a:schemeClr val="bg1"/>
                </a:solidFill>
                <a:latin typeface="+mj-lt"/>
              </a:rPr>
              <a:t>4 </a:t>
            </a:r>
            <a:r>
              <a:rPr lang="ro-RO" sz="2000" b="1" dirty="0" err="1">
                <a:solidFill>
                  <a:schemeClr val="bg1"/>
                </a:solidFill>
                <a:latin typeface="+mj-lt"/>
              </a:rPr>
              <a:t>Resistors</a:t>
            </a:r>
            <a:endParaRPr lang="ro-RO" sz="2000" b="1" dirty="0">
              <a:solidFill>
                <a:schemeClr val="bg1"/>
              </a:solidFill>
              <a:latin typeface="+mj-lt"/>
            </a:endParaRPr>
          </a:p>
          <a:p>
            <a:pPr marL="342900" indent="-342900">
              <a:buFont typeface="Arial" panose="020B0604020202020204" pitchFamily="34" charset="0"/>
              <a:buChar char="•"/>
            </a:pPr>
            <a:r>
              <a:rPr lang="ro-RO" sz="2000" b="1" dirty="0" err="1">
                <a:solidFill>
                  <a:schemeClr val="bg1"/>
                </a:solidFill>
                <a:latin typeface="+mj-lt"/>
              </a:rPr>
              <a:t>Wires</a:t>
            </a:r>
            <a:endParaRPr lang="ro-RO" sz="2000" b="1" dirty="0">
              <a:solidFill>
                <a:schemeClr val="bg1"/>
              </a:solidFill>
              <a:latin typeface="+mj-lt"/>
            </a:endParaRPr>
          </a:p>
          <a:p>
            <a:pPr marL="342900" indent="-342900">
              <a:buFont typeface="Arial" panose="020B0604020202020204" pitchFamily="34" charset="0"/>
              <a:buChar char="•"/>
            </a:pPr>
            <a:r>
              <a:rPr lang="ro-RO" sz="2000" b="1" dirty="0" err="1">
                <a:solidFill>
                  <a:schemeClr val="bg1"/>
                </a:solidFill>
                <a:latin typeface="+mj-lt"/>
              </a:rPr>
              <a:t>PushButton</a:t>
            </a:r>
            <a:endParaRPr lang="ro-RO" sz="2000" b="1" dirty="0">
              <a:solidFill>
                <a:schemeClr val="bg1"/>
              </a:solidFill>
              <a:latin typeface="+mj-lt"/>
            </a:endParaRPr>
          </a:p>
          <a:p>
            <a:pPr marL="342900" indent="-342900">
              <a:buFont typeface="Arial" panose="020B0604020202020204" pitchFamily="34" charset="0"/>
              <a:buChar char="•"/>
            </a:pPr>
            <a:r>
              <a:rPr lang="ro-RO" sz="2000" b="1" dirty="0">
                <a:solidFill>
                  <a:schemeClr val="bg1"/>
                </a:solidFill>
                <a:latin typeface="+mj-lt"/>
              </a:rPr>
              <a:t>2 </a:t>
            </a:r>
            <a:r>
              <a:rPr lang="ro-RO" sz="2000" b="1" dirty="0" err="1">
                <a:solidFill>
                  <a:schemeClr val="bg1"/>
                </a:solidFill>
                <a:latin typeface="+mj-lt"/>
              </a:rPr>
              <a:t>Leds</a:t>
            </a:r>
            <a:endParaRPr lang="ro-RO" sz="2000" b="1" dirty="0">
              <a:solidFill>
                <a:schemeClr val="bg1"/>
              </a:solidFill>
              <a:latin typeface="+mj-lt"/>
            </a:endParaRPr>
          </a:p>
          <a:p>
            <a:pPr marL="342900" indent="-342900">
              <a:buFont typeface="Arial" panose="020B0604020202020204" pitchFamily="34" charset="0"/>
              <a:buChar char="•"/>
            </a:pPr>
            <a:r>
              <a:rPr lang="ro-RO" sz="2000" b="1" dirty="0">
                <a:solidFill>
                  <a:schemeClr val="bg1"/>
                </a:solidFill>
                <a:latin typeface="+mj-lt"/>
              </a:rPr>
              <a:t>2 DC Motors</a:t>
            </a:r>
          </a:p>
          <a:p>
            <a:pPr marL="342900" indent="-342900">
              <a:buFont typeface="Arial" panose="020B0604020202020204" pitchFamily="34" charset="0"/>
              <a:buChar char="•"/>
            </a:pPr>
            <a:r>
              <a:rPr lang="ro-RO" sz="2000" b="1" dirty="0" err="1">
                <a:solidFill>
                  <a:schemeClr val="bg1"/>
                </a:solidFill>
                <a:latin typeface="+mj-lt"/>
              </a:rPr>
              <a:t>Potentiometer</a:t>
            </a:r>
            <a:endParaRPr lang="ro-RO" sz="2000" b="1" dirty="0">
              <a:solidFill>
                <a:schemeClr val="bg1"/>
              </a:solidFill>
              <a:latin typeface="+mj-lt"/>
            </a:endParaRPr>
          </a:p>
          <a:p>
            <a:pPr marL="342900" indent="-342900">
              <a:buFont typeface="Arial" panose="020B0604020202020204" pitchFamily="34" charset="0"/>
              <a:buChar char="•"/>
            </a:pPr>
            <a:r>
              <a:rPr lang="ro-RO" sz="2000" b="1" dirty="0">
                <a:solidFill>
                  <a:schemeClr val="bg1"/>
                </a:solidFill>
                <a:latin typeface="+mj-lt"/>
              </a:rPr>
              <a:t>LCD</a:t>
            </a:r>
          </a:p>
          <a:p>
            <a:pPr marL="342900" indent="-342900">
              <a:buFont typeface="Arial" panose="020B0604020202020204" pitchFamily="34" charset="0"/>
              <a:buChar char="•"/>
            </a:pPr>
            <a:r>
              <a:rPr lang="ro-RO" sz="2000" b="1" dirty="0" err="1">
                <a:solidFill>
                  <a:schemeClr val="bg1"/>
                </a:solidFill>
                <a:latin typeface="+mj-lt"/>
              </a:rPr>
              <a:t>Batery</a:t>
            </a:r>
            <a:r>
              <a:rPr lang="ro-RO" sz="2000" b="1" dirty="0">
                <a:solidFill>
                  <a:schemeClr val="bg1"/>
                </a:solidFill>
                <a:latin typeface="+mj-lt"/>
              </a:rPr>
              <a:t> 9V</a:t>
            </a:r>
          </a:p>
          <a:p>
            <a:pPr marL="342900" indent="-342900">
              <a:buFont typeface="Arial" panose="020B0604020202020204" pitchFamily="34" charset="0"/>
              <a:buChar char="•"/>
            </a:pPr>
            <a:r>
              <a:rPr lang="ro-RO" sz="2000" b="1" dirty="0">
                <a:solidFill>
                  <a:schemeClr val="bg1"/>
                </a:solidFill>
                <a:latin typeface="+mj-lt"/>
              </a:rPr>
              <a:t>H-Bridge Motor Driver L293D</a:t>
            </a:r>
          </a:p>
        </p:txBody>
      </p:sp>
    </p:spTree>
    <p:extLst>
      <p:ext uri="{BB962C8B-B14F-4D97-AF65-F5344CB8AC3E}">
        <p14:creationId xmlns:p14="http://schemas.microsoft.com/office/powerpoint/2010/main" val="40223526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3">
            <a:lumMod val="50000"/>
          </a:schemeClr>
        </a:solidFill>
        <a:effectLst/>
      </p:bgPr>
    </p:bg>
    <p:spTree>
      <p:nvGrpSpPr>
        <p:cNvPr id="1" name=""/>
        <p:cNvGrpSpPr/>
        <p:nvPr/>
      </p:nvGrpSpPr>
      <p:grpSpPr>
        <a:xfrm>
          <a:off x="0" y="0"/>
          <a:ext cx="0" cy="0"/>
          <a:chOff x="0" y="0"/>
          <a:chExt cx="0" cy="0"/>
        </a:xfrm>
      </p:grpSpPr>
      <p:sp>
        <p:nvSpPr>
          <p:cNvPr id="7" name="Title 6" hidden="1">
            <a:extLst>
              <a:ext uri="{FF2B5EF4-FFF2-40B4-BE49-F238E27FC236}">
                <a16:creationId xmlns:a16="http://schemas.microsoft.com/office/drawing/2014/main" id="{ED2F5393-91A3-4102-A584-E902285C507A}"/>
              </a:ext>
            </a:extLst>
          </p:cNvPr>
          <p:cNvSpPr>
            <a:spLocks noGrp="1"/>
          </p:cNvSpPr>
          <p:nvPr>
            <p:ph type="title" idx="4294967295"/>
          </p:nvPr>
        </p:nvSpPr>
        <p:spPr>
          <a:xfrm>
            <a:off x="0" y="365125"/>
            <a:ext cx="10515600" cy="1325563"/>
          </a:xfrm>
        </p:spPr>
        <p:txBody>
          <a:bodyPr/>
          <a:lstStyle/>
          <a:p>
            <a:r>
              <a:rPr lang="en-US" dirty="0"/>
              <a:t>Project analysis slide 4</a:t>
            </a: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75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228600" y="159239"/>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o-RO" sz="2800" b="1" dirty="0">
                <a:solidFill>
                  <a:schemeClr val="bg1"/>
                </a:solidFill>
              </a:rPr>
              <a:t>Central </a:t>
            </a:r>
            <a:r>
              <a:rPr lang="ro-RO" sz="2800" b="1" dirty="0" err="1">
                <a:solidFill>
                  <a:schemeClr val="bg1"/>
                </a:solidFill>
              </a:rPr>
              <a:t>Door</a:t>
            </a:r>
            <a:r>
              <a:rPr lang="ro-RO" sz="2800" b="1" dirty="0">
                <a:solidFill>
                  <a:schemeClr val="bg1"/>
                </a:solidFill>
              </a:rPr>
              <a:t> </a:t>
            </a:r>
            <a:r>
              <a:rPr lang="ro-RO" sz="2800" b="1" dirty="0" err="1">
                <a:solidFill>
                  <a:schemeClr val="bg1"/>
                </a:solidFill>
              </a:rPr>
              <a:t>Locking</a:t>
            </a:r>
            <a:br>
              <a:rPr lang="en-US" sz="2800" b="1" dirty="0">
                <a:solidFill>
                  <a:schemeClr val="bg1"/>
                </a:solidFill>
              </a:rPr>
            </a:br>
            <a:endParaRPr lang="en-US" sz="2800" b="1" dirty="0">
              <a:solidFill>
                <a:schemeClr val="bg1"/>
              </a:solidFill>
            </a:endParaRP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75000"/>
              </a:schemeClr>
            </a:solidFill>
            <a:tailEnd type="ova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A397F23B-A076-C6AF-0CBC-724513A4C8A3}"/>
              </a:ext>
            </a:extLst>
          </p:cNvPr>
          <p:cNvSpPr txBox="1"/>
          <p:nvPr/>
        </p:nvSpPr>
        <p:spPr>
          <a:xfrm>
            <a:off x="4086225" y="1536173"/>
            <a:ext cx="6585528" cy="4247317"/>
          </a:xfrm>
          <a:prstGeom prst="rect">
            <a:avLst/>
          </a:prstGeom>
          <a:noFill/>
          <a:ln w="19050">
            <a:solidFill>
              <a:schemeClr val="bg1"/>
            </a:solidFill>
          </a:ln>
        </p:spPr>
        <p:txBody>
          <a:bodyPr wrap="square" rtlCol="0">
            <a:spAutoFit/>
          </a:bodyPr>
          <a:lstStyle/>
          <a:p>
            <a:r>
              <a:rPr lang="ro-RO" dirty="0" err="1">
                <a:solidFill>
                  <a:schemeClr val="bg1"/>
                </a:solidFill>
                <a:latin typeface="+mj-lt"/>
              </a:rPr>
              <a:t>PushButton</a:t>
            </a:r>
            <a:r>
              <a:rPr lang="ro-RO" dirty="0">
                <a:solidFill>
                  <a:schemeClr val="bg1"/>
                </a:solidFill>
                <a:latin typeface="+mj-lt"/>
              </a:rPr>
              <a:t>                                         Pin D2</a:t>
            </a:r>
          </a:p>
          <a:p>
            <a:r>
              <a:rPr lang="ro-RO" dirty="0">
                <a:solidFill>
                  <a:schemeClr val="bg1"/>
                </a:solidFill>
                <a:latin typeface="+mj-lt"/>
              </a:rPr>
              <a:t>Left Led                                              Pin D3</a:t>
            </a:r>
          </a:p>
          <a:p>
            <a:r>
              <a:rPr lang="ro-RO" dirty="0" err="1">
                <a:solidFill>
                  <a:schemeClr val="bg1"/>
                </a:solidFill>
                <a:latin typeface="+mj-lt"/>
              </a:rPr>
              <a:t>Right</a:t>
            </a:r>
            <a:r>
              <a:rPr lang="ro-RO" dirty="0">
                <a:solidFill>
                  <a:schemeClr val="bg1"/>
                </a:solidFill>
                <a:latin typeface="+mj-lt"/>
              </a:rPr>
              <a:t> Led                                            Pin D4</a:t>
            </a:r>
          </a:p>
          <a:p>
            <a:r>
              <a:rPr lang="ro-RO" dirty="0">
                <a:solidFill>
                  <a:schemeClr val="bg1"/>
                </a:solidFill>
                <a:latin typeface="+mj-lt"/>
              </a:rPr>
              <a:t>LCD </a:t>
            </a:r>
            <a:r>
              <a:rPr lang="ro-RO" dirty="0" err="1">
                <a:solidFill>
                  <a:schemeClr val="bg1"/>
                </a:solidFill>
                <a:latin typeface="+mj-lt"/>
              </a:rPr>
              <a:t>Enable</a:t>
            </a:r>
            <a:r>
              <a:rPr lang="ro-RO" dirty="0">
                <a:solidFill>
                  <a:schemeClr val="bg1"/>
                </a:solidFill>
                <a:latin typeface="+mj-lt"/>
              </a:rPr>
              <a:t>                                        Pin D11</a:t>
            </a:r>
          </a:p>
          <a:p>
            <a:r>
              <a:rPr lang="ro-RO" dirty="0">
                <a:solidFill>
                  <a:schemeClr val="bg1"/>
                </a:solidFill>
                <a:latin typeface="+mj-lt"/>
              </a:rPr>
              <a:t>LCD RS                                                Pin D12</a:t>
            </a:r>
          </a:p>
          <a:p>
            <a:r>
              <a:rPr lang="ro-RO" dirty="0">
                <a:solidFill>
                  <a:schemeClr val="bg1"/>
                </a:solidFill>
                <a:latin typeface="+mj-lt"/>
              </a:rPr>
              <a:t>LCD DB4                                             Pin A5                                   </a:t>
            </a:r>
          </a:p>
          <a:p>
            <a:r>
              <a:rPr lang="ro-RO" dirty="0">
                <a:solidFill>
                  <a:schemeClr val="bg1"/>
                </a:solidFill>
                <a:latin typeface="+mj-lt"/>
              </a:rPr>
              <a:t>LCD DB5                                             Pin A4</a:t>
            </a:r>
          </a:p>
          <a:p>
            <a:r>
              <a:rPr lang="ro-RO" dirty="0">
                <a:solidFill>
                  <a:schemeClr val="bg1"/>
                </a:solidFill>
                <a:latin typeface="+mj-lt"/>
              </a:rPr>
              <a:t>LCD DB6                                             Pin A3</a:t>
            </a:r>
          </a:p>
          <a:p>
            <a:r>
              <a:rPr lang="ro-RO" dirty="0">
                <a:solidFill>
                  <a:schemeClr val="bg1"/>
                </a:solidFill>
                <a:latin typeface="+mj-lt"/>
              </a:rPr>
              <a:t>LCD DB7                                             Pin A2</a:t>
            </a:r>
          </a:p>
          <a:p>
            <a:r>
              <a:rPr lang="ro-RO" dirty="0" err="1">
                <a:solidFill>
                  <a:schemeClr val="bg1"/>
                </a:solidFill>
                <a:latin typeface="+mj-lt"/>
              </a:rPr>
              <a:t>Window</a:t>
            </a:r>
            <a:r>
              <a:rPr lang="ro-RO" dirty="0">
                <a:solidFill>
                  <a:schemeClr val="bg1"/>
                </a:solidFill>
                <a:latin typeface="+mj-lt"/>
              </a:rPr>
              <a:t> Motor </a:t>
            </a:r>
            <a:r>
              <a:rPr lang="ro-RO" dirty="0" err="1">
                <a:solidFill>
                  <a:schemeClr val="bg1"/>
                </a:solidFill>
                <a:latin typeface="+mj-lt"/>
              </a:rPr>
              <a:t>Enable</a:t>
            </a:r>
            <a:r>
              <a:rPr lang="ro-RO" dirty="0">
                <a:solidFill>
                  <a:schemeClr val="bg1"/>
                </a:solidFill>
                <a:latin typeface="+mj-lt"/>
              </a:rPr>
              <a:t>                      Pin D5</a:t>
            </a:r>
          </a:p>
          <a:p>
            <a:r>
              <a:rPr lang="ro-RO" dirty="0" err="1">
                <a:solidFill>
                  <a:schemeClr val="bg1"/>
                </a:solidFill>
                <a:latin typeface="+mj-lt"/>
              </a:rPr>
              <a:t>Window</a:t>
            </a:r>
            <a:r>
              <a:rPr lang="ro-RO" dirty="0">
                <a:solidFill>
                  <a:schemeClr val="bg1"/>
                </a:solidFill>
                <a:latin typeface="+mj-lt"/>
              </a:rPr>
              <a:t> Motor 1                                Pin D6</a:t>
            </a:r>
          </a:p>
          <a:p>
            <a:r>
              <a:rPr lang="ro-RO" dirty="0" err="1">
                <a:solidFill>
                  <a:schemeClr val="bg1"/>
                </a:solidFill>
                <a:latin typeface="+mj-lt"/>
              </a:rPr>
              <a:t>Window</a:t>
            </a:r>
            <a:r>
              <a:rPr lang="ro-RO" dirty="0">
                <a:solidFill>
                  <a:schemeClr val="bg1"/>
                </a:solidFill>
                <a:latin typeface="+mj-lt"/>
              </a:rPr>
              <a:t> Motor 2                                Pin D10</a:t>
            </a:r>
          </a:p>
          <a:p>
            <a:r>
              <a:rPr lang="ro-RO" dirty="0" err="1">
                <a:solidFill>
                  <a:schemeClr val="bg1"/>
                </a:solidFill>
                <a:latin typeface="+mj-lt"/>
              </a:rPr>
              <a:t>Door</a:t>
            </a:r>
            <a:r>
              <a:rPr lang="ro-RO" dirty="0">
                <a:solidFill>
                  <a:schemeClr val="bg1"/>
                </a:solidFill>
                <a:latin typeface="+mj-lt"/>
              </a:rPr>
              <a:t> </a:t>
            </a:r>
            <a:r>
              <a:rPr lang="ro-RO" dirty="0" err="1">
                <a:solidFill>
                  <a:schemeClr val="bg1"/>
                </a:solidFill>
                <a:latin typeface="+mj-lt"/>
              </a:rPr>
              <a:t>Lock</a:t>
            </a:r>
            <a:r>
              <a:rPr lang="ro-RO" dirty="0">
                <a:solidFill>
                  <a:schemeClr val="bg1"/>
                </a:solidFill>
                <a:latin typeface="+mj-lt"/>
              </a:rPr>
              <a:t> Motor </a:t>
            </a:r>
            <a:r>
              <a:rPr lang="ro-RO" dirty="0" err="1">
                <a:solidFill>
                  <a:schemeClr val="bg1"/>
                </a:solidFill>
                <a:latin typeface="+mj-lt"/>
              </a:rPr>
              <a:t>Enable</a:t>
            </a:r>
            <a:r>
              <a:rPr lang="ro-RO" dirty="0">
                <a:solidFill>
                  <a:schemeClr val="bg1"/>
                </a:solidFill>
                <a:latin typeface="+mj-lt"/>
              </a:rPr>
              <a:t>                   Pin D9</a:t>
            </a:r>
          </a:p>
          <a:p>
            <a:r>
              <a:rPr lang="ro-RO" dirty="0" err="1">
                <a:solidFill>
                  <a:schemeClr val="bg1"/>
                </a:solidFill>
                <a:latin typeface="+mj-lt"/>
              </a:rPr>
              <a:t>Door</a:t>
            </a:r>
            <a:r>
              <a:rPr lang="ro-RO" dirty="0">
                <a:solidFill>
                  <a:schemeClr val="bg1"/>
                </a:solidFill>
                <a:latin typeface="+mj-lt"/>
              </a:rPr>
              <a:t> </a:t>
            </a:r>
            <a:r>
              <a:rPr lang="ro-RO" dirty="0" err="1">
                <a:solidFill>
                  <a:schemeClr val="bg1"/>
                </a:solidFill>
                <a:latin typeface="+mj-lt"/>
              </a:rPr>
              <a:t>Lock</a:t>
            </a:r>
            <a:r>
              <a:rPr lang="ro-RO" dirty="0">
                <a:solidFill>
                  <a:schemeClr val="bg1"/>
                </a:solidFill>
                <a:latin typeface="+mj-lt"/>
              </a:rPr>
              <a:t> Motor 1                             Pin D7</a:t>
            </a:r>
          </a:p>
          <a:p>
            <a:r>
              <a:rPr lang="ro-RO" dirty="0" err="1">
                <a:solidFill>
                  <a:schemeClr val="bg1"/>
                </a:solidFill>
                <a:latin typeface="+mj-lt"/>
              </a:rPr>
              <a:t>Door</a:t>
            </a:r>
            <a:r>
              <a:rPr lang="ro-RO" dirty="0">
                <a:solidFill>
                  <a:schemeClr val="bg1"/>
                </a:solidFill>
                <a:latin typeface="+mj-lt"/>
              </a:rPr>
              <a:t> </a:t>
            </a:r>
            <a:r>
              <a:rPr lang="ro-RO" dirty="0" err="1">
                <a:solidFill>
                  <a:schemeClr val="bg1"/>
                </a:solidFill>
                <a:latin typeface="+mj-lt"/>
              </a:rPr>
              <a:t>Lock</a:t>
            </a:r>
            <a:r>
              <a:rPr lang="ro-RO" dirty="0">
                <a:solidFill>
                  <a:schemeClr val="bg1"/>
                </a:solidFill>
                <a:latin typeface="+mj-lt"/>
              </a:rPr>
              <a:t> Motor 2                             Pin D8</a:t>
            </a:r>
          </a:p>
        </p:txBody>
      </p:sp>
      <p:sp>
        <p:nvSpPr>
          <p:cNvPr id="9" name="CasetăText 8">
            <a:extLst>
              <a:ext uri="{FF2B5EF4-FFF2-40B4-BE49-F238E27FC236}">
                <a16:creationId xmlns:a16="http://schemas.microsoft.com/office/drawing/2014/main" id="{D65467FE-8DFA-4828-A801-2861163801A1}"/>
              </a:ext>
            </a:extLst>
          </p:cNvPr>
          <p:cNvSpPr txBox="1"/>
          <p:nvPr/>
        </p:nvSpPr>
        <p:spPr>
          <a:xfrm>
            <a:off x="639640" y="2828835"/>
            <a:ext cx="3072668" cy="646331"/>
          </a:xfrm>
          <a:prstGeom prst="rect">
            <a:avLst/>
          </a:prstGeom>
          <a:noFill/>
        </p:spPr>
        <p:txBody>
          <a:bodyPr wrap="square" rtlCol="0">
            <a:spAutoFit/>
          </a:bodyPr>
          <a:lstStyle/>
          <a:p>
            <a:r>
              <a:rPr lang="ro-RO" sz="3600" b="1" dirty="0">
                <a:solidFill>
                  <a:schemeClr val="bg1"/>
                </a:solidFill>
                <a:latin typeface="+mj-lt"/>
              </a:rPr>
              <a:t>Pin </a:t>
            </a:r>
            <a:r>
              <a:rPr lang="ro-RO" sz="3600" b="1" dirty="0" err="1">
                <a:solidFill>
                  <a:schemeClr val="bg1"/>
                </a:solidFill>
                <a:latin typeface="+mj-lt"/>
              </a:rPr>
              <a:t>Mapping</a:t>
            </a:r>
            <a:endParaRPr lang="ro-RO" sz="3600" b="1" dirty="0">
              <a:solidFill>
                <a:schemeClr val="bg1"/>
              </a:solidFill>
              <a:latin typeface="+mj-lt"/>
            </a:endParaRPr>
          </a:p>
        </p:txBody>
      </p:sp>
    </p:spTree>
    <p:extLst>
      <p:ext uri="{BB962C8B-B14F-4D97-AF65-F5344CB8AC3E}">
        <p14:creationId xmlns:p14="http://schemas.microsoft.com/office/powerpoint/2010/main" val="7528754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3">
            <a:lumMod val="50000"/>
          </a:schemeClr>
        </a:solidFill>
        <a:effectLst/>
      </p:bgPr>
    </p:bg>
    <p:spTree>
      <p:nvGrpSpPr>
        <p:cNvPr id="1" name=""/>
        <p:cNvGrpSpPr/>
        <p:nvPr/>
      </p:nvGrpSpPr>
      <p:grpSpPr>
        <a:xfrm>
          <a:off x="0" y="0"/>
          <a:ext cx="0" cy="0"/>
          <a:chOff x="0" y="0"/>
          <a:chExt cx="0" cy="0"/>
        </a:xfrm>
      </p:grpSpPr>
      <p:sp>
        <p:nvSpPr>
          <p:cNvPr id="7" name="Title 6" hidden="1">
            <a:extLst>
              <a:ext uri="{FF2B5EF4-FFF2-40B4-BE49-F238E27FC236}">
                <a16:creationId xmlns:a16="http://schemas.microsoft.com/office/drawing/2014/main" id="{ED2F5393-91A3-4102-A584-E902285C507A}"/>
              </a:ext>
            </a:extLst>
          </p:cNvPr>
          <p:cNvSpPr>
            <a:spLocks noGrp="1"/>
          </p:cNvSpPr>
          <p:nvPr>
            <p:ph type="title" idx="4294967295"/>
          </p:nvPr>
        </p:nvSpPr>
        <p:spPr>
          <a:xfrm>
            <a:off x="0" y="365125"/>
            <a:ext cx="10515600" cy="1325563"/>
          </a:xfrm>
        </p:spPr>
        <p:txBody>
          <a:bodyPr/>
          <a:lstStyle/>
          <a:p>
            <a:r>
              <a:rPr lang="en-US" dirty="0"/>
              <a:t>Project analysis slide 4</a:t>
            </a: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75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228600" y="159239"/>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o-RO" sz="2800" b="1" dirty="0">
                <a:solidFill>
                  <a:schemeClr val="bg1"/>
                </a:solidFill>
              </a:rPr>
              <a:t>Central </a:t>
            </a:r>
            <a:r>
              <a:rPr lang="ro-RO" sz="2800" b="1" dirty="0" err="1">
                <a:solidFill>
                  <a:schemeClr val="bg1"/>
                </a:solidFill>
              </a:rPr>
              <a:t>Door</a:t>
            </a:r>
            <a:r>
              <a:rPr lang="ro-RO" sz="2800" b="1" dirty="0">
                <a:solidFill>
                  <a:schemeClr val="bg1"/>
                </a:solidFill>
              </a:rPr>
              <a:t> </a:t>
            </a:r>
            <a:r>
              <a:rPr lang="ro-RO" sz="2800" b="1" dirty="0" err="1">
                <a:solidFill>
                  <a:schemeClr val="bg1"/>
                </a:solidFill>
              </a:rPr>
              <a:t>Locking</a:t>
            </a:r>
            <a:br>
              <a:rPr lang="en-US" sz="2800" dirty="0">
                <a:solidFill>
                  <a:schemeClr val="tx1">
                    <a:lumMod val="75000"/>
                    <a:lumOff val="25000"/>
                  </a:schemeClr>
                </a:solidFill>
              </a:rPr>
            </a:b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75000"/>
              </a:schemeClr>
            </a:solidFill>
            <a:tailEnd type="oval"/>
          </a:ln>
        </p:spPr>
        <p:style>
          <a:lnRef idx="1">
            <a:schemeClr val="accent1"/>
          </a:lnRef>
          <a:fillRef idx="0">
            <a:schemeClr val="accent1"/>
          </a:fillRef>
          <a:effectRef idx="0">
            <a:schemeClr val="accent1"/>
          </a:effectRef>
          <a:fontRef idx="minor">
            <a:schemeClr val="tx1"/>
          </a:fontRef>
        </p:style>
      </p:cxnSp>
      <p:sp>
        <p:nvSpPr>
          <p:cNvPr id="4" name="CasetăText 3">
            <a:extLst>
              <a:ext uri="{FF2B5EF4-FFF2-40B4-BE49-F238E27FC236}">
                <a16:creationId xmlns:a16="http://schemas.microsoft.com/office/drawing/2014/main" id="{015A30EA-C0B3-473C-ADCD-7AE9547E4BE0}"/>
              </a:ext>
            </a:extLst>
          </p:cNvPr>
          <p:cNvSpPr txBox="1"/>
          <p:nvPr/>
        </p:nvSpPr>
        <p:spPr>
          <a:xfrm>
            <a:off x="3681046" y="1525835"/>
            <a:ext cx="4829908" cy="646331"/>
          </a:xfrm>
          <a:prstGeom prst="rect">
            <a:avLst/>
          </a:prstGeom>
          <a:noFill/>
        </p:spPr>
        <p:txBody>
          <a:bodyPr wrap="square" rtlCol="0">
            <a:spAutoFit/>
          </a:bodyPr>
          <a:lstStyle/>
          <a:p>
            <a:r>
              <a:rPr lang="ro-RO" sz="3600" b="1" dirty="0">
                <a:solidFill>
                  <a:schemeClr val="bg1"/>
                </a:solidFill>
                <a:latin typeface="+mj-lt"/>
              </a:rPr>
              <a:t>Main </a:t>
            </a:r>
            <a:r>
              <a:rPr lang="ro-RO" sz="3600" b="1" dirty="0" err="1">
                <a:solidFill>
                  <a:schemeClr val="bg1"/>
                </a:solidFill>
                <a:latin typeface="+mj-lt"/>
              </a:rPr>
              <a:t>Functions</a:t>
            </a:r>
            <a:r>
              <a:rPr lang="ro-RO" sz="3600" b="1" dirty="0">
                <a:solidFill>
                  <a:schemeClr val="bg1"/>
                </a:solidFill>
                <a:latin typeface="+mj-lt"/>
              </a:rPr>
              <a:t> </a:t>
            </a:r>
            <a:r>
              <a:rPr lang="ro-RO" sz="3600" b="1" dirty="0" err="1">
                <a:solidFill>
                  <a:schemeClr val="bg1"/>
                </a:solidFill>
                <a:latin typeface="+mj-lt"/>
              </a:rPr>
              <a:t>Used</a:t>
            </a:r>
            <a:endParaRPr lang="ro-RO" sz="3600" b="1" dirty="0">
              <a:solidFill>
                <a:schemeClr val="bg1"/>
              </a:solidFill>
              <a:latin typeface="+mj-lt"/>
            </a:endParaRPr>
          </a:p>
        </p:txBody>
      </p:sp>
      <p:sp>
        <p:nvSpPr>
          <p:cNvPr id="9" name="CasetăText 8">
            <a:extLst>
              <a:ext uri="{FF2B5EF4-FFF2-40B4-BE49-F238E27FC236}">
                <a16:creationId xmlns:a16="http://schemas.microsoft.com/office/drawing/2014/main" id="{C314D4A5-F8B4-4680-A625-E360FDA980C6}"/>
              </a:ext>
            </a:extLst>
          </p:cNvPr>
          <p:cNvSpPr txBox="1"/>
          <p:nvPr/>
        </p:nvSpPr>
        <p:spPr>
          <a:xfrm>
            <a:off x="228599" y="2375367"/>
            <a:ext cx="6381428" cy="3785652"/>
          </a:xfrm>
          <a:prstGeom prst="rect">
            <a:avLst/>
          </a:prstGeom>
          <a:noFill/>
        </p:spPr>
        <p:txBody>
          <a:bodyPr wrap="square" rtlCol="0">
            <a:spAutoFit/>
          </a:bodyPr>
          <a:lstStyle/>
          <a:p>
            <a:pPr marL="342900" indent="-342900">
              <a:buFont typeface="Arial" panose="020B0604020202020204" pitchFamily="34" charset="0"/>
              <a:buChar char="•"/>
            </a:pPr>
            <a:r>
              <a:rPr lang="ro-RO" sz="2000" b="1" dirty="0" err="1">
                <a:solidFill>
                  <a:schemeClr val="bg1"/>
                </a:solidFill>
                <a:latin typeface="+mj-lt"/>
              </a:rPr>
              <a:t>handleButton</a:t>
            </a:r>
            <a:r>
              <a:rPr lang="ro-RO" sz="2000" b="1" dirty="0">
                <a:solidFill>
                  <a:schemeClr val="bg1"/>
                </a:solidFill>
                <a:latin typeface="+mj-lt"/>
              </a:rPr>
              <a:t>()</a:t>
            </a:r>
          </a:p>
          <a:p>
            <a:pPr marL="342900" indent="-342900">
              <a:buFont typeface="Arial" panose="020B0604020202020204" pitchFamily="34" charset="0"/>
              <a:buChar char="•"/>
            </a:pPr>
            <a:r>
              <a:rPr lang="ro-RO" sz="2000" b="1" dirty="0" err="1">
                <a:solidFill>
                  <a:schemeClr val="bg1"/>
                </a:solidFill>
                <a:latin typeface="+mj-lt"/>
              </a:rPr>
              <a:t>onButtonPressed</a:t>
            </a:r>
            <a:r>
              <a:rPr lang="ro-RO" sz="2000" b="1" dirty="0">
                <a:solidFill>
                  <a:schemeClr val="bg1"/>
                </a:solidFill>
                <a:latin typeface="+mj-lt"/>
              </a:rPr>
              <a:t>(</a:t>
            </a:r>
            <a:r>
              <a:rPr lang="ro-RO" sz="2000" b="1" dirty="0" err="1">
                <a:solidFill>
                  <a:schemeClr val="bg1"/>
                </a:solidFill>
                <a:latin typeface="+mj-lt"/>
              </a:rPr>
              <a:t>pressStart</a:t>
            </a:r>
            <a:r>
              <a:rPr lang="ro-RO" sz="2000" b="1" dirty="0">
                <a:solidFill>
                  <a:schemeClr val="bg1"/>
                </a:solidFill>
                <a:latin typeface="+mj-lt"/>
              </a:rPr>
              <a:t>)</a:t>
            </a:r>
          </a:p>
          <a:p>
            <a:pPr marL="342900" indent="-342900">
              <a:buFont typeface="Arial" panose="020B0604020202020204" pitchFamily="34" charset="0"/>
              <a:buChar char="•"/>
            </a:pPr>
            <a:r>
              <a:rPr lang="ro-RO" sz="2000" b="1" dirty="0" err="1">
                <a:solidFill>
                  <a:schemeClr val="bg1"/>
                </a:solidFill>
                <a:latin typeface="+mj-lt"/>
              </a:rPr>
              <a:t>onButtonReleased</a:t>
            </a:r>
            <a:r>
              <a:rPr lang="ro-RO" sz="2000" b="1" dirty="0">
                <a:solidFill>
                  <a:schemeClr val="bg1"/>
                </a:solidFill>
                <a:latin typeface="+mj-lt"/>
              </a:rPr>
              <a:t>(</a:t>
            </a:r>
            <a:r>
              <a:rPr lang="ro-RO" sz="2000" b="1" dirty="0" err="1">
                <a:solidFill>
                  <a:schemeClr val="bg1"/>
                </a:solidFill>
                <a:latin typeface="+mj-lt"/>
              </a:rPr>
              <a:t>pressDuration</a:t>
            </a:r>
            <a:r>
              <a:rPr lang="ro-RO" sz="2000" b="1" dirty="0">
                <a:solidFill>
                  <a:schemeClr val="bg1"/>
                </a:solidFill>
                <a:latin typeface="+mj-lt"/>
              </a:rPr>
              <a:t>)</a:t>
            </a:r>
          </a:p>
          <a:p>
            <a:pPr marL="342900" indent="-342900">
              <a:buFont typeface="Arial" panose="020B0604020202020204" pitchFamily="34" charset="0"/>
              <a:buChar char="•"/>
            </a:pPr>
            <a:r>
              <a:rPr lang="ro-RO" sz="2000" b="1" dirty="0" err="1">
                <a:solidFill>
                  <a:schemeClr val="bg1"/>
                </a:solidFill>
                <a:latin typeface="+mj-lt"/>
              </a:rPr>
              <a:t>startDoorMotor</a:t>
            </a:r>
            <a:r>
              <a:rPr lang="ro-RO" sz="2000" b="1" dirty="0">
                <a:solidFill>
                  <a:schemeClr val="bg1"/>
                </a:solidFill>
                <a:latin typeface="+mj-lt"/>
              </a:rPr>
              <a:t>(</a:t>
            </a:r>
            <a:r>
              <a:rPr lang="ro-RO" sz="2000" b="1" dirty="0" err="1">
                <a:solidFill>
                  <a:schemeClr val="bg1"/>
                </a:solidFill>
                <a:latin typeface="+mj-lt"/>
              </a:rPr>
              <a:t>duration,time</a:t>
            </a:r>
            <a:r>
              <a:rPr lang="ro-RO" sz="2000" b="1" dirty="0">
                <a:solidFill>
                  <a:schemeClr val="bg1"/>
                </a:solidFill>
                <a:latin typeface="+mj-lt"/>
              </a:rPr>
              <a:t>)</a:t>
            </a:r>
          </a:p>
          <a:p>
            <a:pPr marL="342900" indent="-342900">
              <a:buFont typeface="Arial" panose="020B0604020202020204" pitchFamily="34" charset="0"/>
              <a:buChar char="•"/>
            </a:pPr>
            <a:r>
              <a:rPr lang="ro-RO" sz="2000" b="1" dirty="0" err="1">
                <a:solidFill>
                  <a:schemeClr val="bg1"/>
                </a:solidFill>
                <a:latin typeface="+mj-lt"/>
              </a:rPr>
              <a:t>startWindowMotor</a:t>
            </a:r>
            <a:r>
              <a:rPr lang="ro-RO" sz="2000" b="1" dirty="0">
                <a:solidFill>
                  <a:schemeClr val="bg1"/>
                </a:solidFill>
                <a:latin typeface="+mj-lt"/>
              </a:rPr>
              <a:t>(</a:t>
            </a:r>
            <a:r>
              <a:rPr lang="ro-RO" sz="2000" b="1" dirty="0" err="1">
                <a:solidFill>
                  <a:schemeClr val="bg1"/>
                </a:solidFill>
                <a:latin typeface="+mj-lt"/>
              </a:rPr>
              <a:t>duration,time</a:t>
            </a:r>
            <a:r>
              <a:rPr lang="ro-RO" sz="2000" b="1" dirty="0">
                <a:solidFill>
                  <a:schemeClr val="bg1"/>
                </a:solidFill>
                <a:latin typeface="+mj-lt"/>
              </a:rPr>
              <a:t>)</a:t>
            </a:r>
          </a:p>
          <a:p>
            <a:pPr marL="342900" indent="-342900">
              <a:buFont typeface="Arial" panose="020B0604020202020204" pitchFamily="34" charset="0"/>
              <a:buChar char="•"/>
            </a:pPr>
            <a:r>
              <a:rPr lang="ro-RO" sz="2000" b="1" dirty="0" err="1">
                <a:solidFill>
                  <a:schemeClr val="bg1"/>
                </a:solidFill>
                <a:latin typeface="+mj-lt"/>
              </a:rPr>
              <a:t>startActionChangeMotors</a:t>
            </a:r>
            <a:r>
              <a:rPr lang="ro-RO" sz="2000" b="1" dirty="0">
                <a:solidFill>
                  <a:schemeClr val="bg1"/>
                </a:solidFill>
                <a:latin typeface="+mj-lt"/>
              </a:rPr>
              <a:t>(</a:t>
            </a:r>
            <a:r>
              <a:rPr lang="ro-RO" sz="2000" b="1" dirty="0" err="1">
                <a:solidFill>
                  <a:schemeClr val="bg1"/>
                </a:solidFill>
                <a:latin typeface="+mj-lt"/>
              </a:rPr>
              <a:t>fromMode,toMode</a:t>
            </a:r>
            <a:r>
              <a:rPr lang="ro-RO" sz="2000" b="1" dirty="0">
                <a:solidFill>
                  <a:schemeClr val="bg1"/>
                </a:solidFill>
                <a:latin typeface="+mj-lt"/>
              </a:rPr>
              <a:t>)</a:t>
            </a:r>
          </a:p>
          <a:p>
            <a:pPr marL="342900" indent="-342900">
              <a:buFont typeface="Arial" panose="020B0604020202020204" pitchFamily="34" charset="0"/>
              <a:buChar char="•"/>
            </a:pPr>
            <a:r>
              <a:rPr lang="ro-RO" sz="2000" b="1" dirty="0" err="1">
                <a:solidFill>
                  <a:schemeClr val="bg1"/>
                </a:solidFill>
                <a:latin typeface="+mj-lt"/>
              </a:rPr>
              <a:t>updateModeOnLCD</a:t>
            </a:r>
            <a:r>
              <a:rPr lang="ro-RO" sz="2000" b="1" dirty="0">
                <a:solidFill>
                  <a:schemeClr val="bg1"/>
                </a:solidFill>
                <a:latin typeface="+mj-lt"/>
              </a:rPr>
              <a:t>(mode)</a:t>
            </a:r>
          </a:p>
          <a:p>
            <a:pPr marL="342900" indent="-342900">
              <a:buFont typeface="Arial" panose="020B0604020202020204" pitchFamily="34" charset="0"/>
              <a:buChar char="•"/>
            </a:pPr>
            <a:r>
              <a:rPr lang="ro-RO" sz="2000" b="1" dirty="0" err="1">
                <a:solidFill>
                  <a:schemeClr val="bg1"/>
                </a:solidFill>
                <a:latin typeface="+mj-lt"/>
              </a:rPr>
              <a:t>updateButtonStateOnLCD</a:t>
            </a:r>
            <a:r>
              <a:rPr lang="ro-RO" sz="2000" b="1" dirty="0">
                <a:solidFill>
                  <a:schemeClr val="bg1"/>
                </a:solidFill>
                <a:latin typeface="+mj-lt"/>
              </a:rPr>
              <a:t>()</a:t>
            </a:r>
          </a:p>
          <a:p>
            <a:pPr marL="342900" indent="-342900">
              <a:buFont typeface="Arial" panose="020B0604020202020204" pitchFamily="34" charset="0"/>
              <a:buChar char="•"/>
            </a:pPr>
            <a:r>
              <a:rPr lang="ro-RO" sz="2000" b="1" dirty="0" err="1">
                <a:solidFill>
                  <a:schemeClr val="bg1"/>
                </a:solidFill>
                <a:latin typeface="+mj-lt"/>
              </a:rPr>
              <a:t>startBlinking</a:t>
            </a:r>
            <a:r>
              <a:rPr lang="ro-RO" sz="2000" b="1" dirty="0">
                <a:solidFill>
                  <a:schemeClr val="bg1"/>
                </a:solidFill>
                <a:latin typeface="+mj-lt"/>
              </a:rPr>
              <a:t>(</a:t>
            </a:r>
            <a:r>
              <a:rPr lang="ro-RO" sz="2000" b="1" dirty="0" err="1">
                <a:solidFill>
                  <a:schemeClr val="bg1"/>
                </a:solidFill>
                <a:latin typeface="+mj-lt"/>
              </a:rPr>
              <a:t>times</a:t>
            </a:r>
            <a:r>
              <a:rPr lang="ro-RO" sz="2000" b="1" dirty="0">
                <a:solidFill>
                  <a:schemeClr val="bg1"/>
                </a:solidFill>
                <a:latin typeface="+mj-lt"/>
              </a:rPr>
              <a:t>)</a:t>
            </a:r>
          </a:p>
          <a:p>
            <a:pPr marL="342900" indent="-342900">
              <a:buFont typeface="Arial" panose="020B0604020202020204" pitchFamily="34" charset="0"/>
              <a:buChar char="•"/>
            </a:pPr>
            <a:r>
              <a:rPr lang="ro-RO" sz="2000" b="1" dirty="0" err="1">
                <a:solidFill>
                  <a:schemeClr val="bg1"/>
                </a:solidFill>
                <a:latin typeface="+mj-lt"/>
              </a:rPr>
              <a:t>updateBlinking</a:t>
            </a:r>
            <a:r>
              <a:rPr lang="ro-RO" sz="2000" b="1" dirty="0">
                <a:solidFill>
                  <a:schemeClr val="bg1"/>
                </a:solidFill>
                <a:latin typeface="+mj-lt"/>
              </a:rPr>
              <a:t>()</a:t>
            </a:r>
          </a:p>
          <a:p>
            <a:pPr marL="342900" indent="-342900">
              <a:buFont typeface="Arial" panose="020B0604020202020204" pitchFamily="34" charset="0"/>
              <a:buChar char="•"/>
            </a:pPr>
            <a:r>
              <a:rPr lang="ro-RO" sz="2000" b="1" dirty="0" err="1">
                <a:solidFill>
                  <a:schemeClr val="bg1"/>
                </a:solidFill>
                <a:latin typeface="+mj-lt"/>
              </a:rPr>
              <a:t>readPassword</a:t>
            </a:r>
            <a:r>
              <a:rPr lang="ro-RO" sz="2000" b="1" dirty="0">
                <a:solidFill>
                  <a:schemeClr val="bg1"/>
                </a:solidFill>
                <a:latin typeface="+mj-lt"/>
              </a:rPr>
              <a:t>()</a:t>
            </a:r>
          </a:p>
          <a:p>
            <a:pPr marL="342900" indent="-342900">
              <a:buFont typeface="Arial" panose="020B0604020202020204" pitchFamily="34" charset="0"/>
              <a:buChar char="•"/>
            </a:pPr>
            <a:endParaRPr lang="ro-RO" sz="2000" b="1" dirty="0">
              <a:solidFill>
                <a:schemeClr val="bg1"/>
              </a:solidFill>
              <a:latin typeface="+mj-lt"/>
            </a:endParaRPr>
          </a:p>
        </p:txBody>
      </p:sp>
      <p:sp>
        <p:nvSpPr>
          <p:cNvPr id="2" name="CasetăText 1">
            <a:extLst>
              <a:ext uri="{FF2B5EF4-FFF2-40B4-BE49-F238E27FC236}">
                <a16:creationId xmlns:a16="http://schemas.microsoft.com/office/drawing/2014/main" id="{3AC2185A-A772-43F5-8F75-AC1703D2381E}"/>
              </a:ext>
            </a:extLst>
          </p:cNvPr>
          <p:cNvSpPr txBox="1"/>
          <p:nvPr/>
        </p:nvSpPr>
        <p:spPr>
          <a:xfrm flipH="1">
            <a:off x="7419367" y="2375367"/>
            <a:ext cx="2891649" cy="1323439"/>
          </a:xfrm>
          <a:prstGeom prst="rect">
            <a:avLst/>
          </a:prstGeom>
          <a:noFill/>
        </p:spPr>
        <p:txBody>
          <a:bodyPr wrap="square" rtlCol="0">
            <a:spAutoFit/>
          </a:bodyPr>
          <a:lstStyle/>
          <a:p>
            <a:r>
              <a:rPr lang="ro-RO" sz="2000" b="1" dirty="0">
                <a:solidFill>
                  <a:schemeClr val="bg1"/>
                </a:solidFill>
                <a:latin typeface="+mj-lt"/>
              </a:rPr>
              <a:t>Macro </a:t>
            </a:r>
            <a:r>
              <a:rPr lang="ro-RO" sz="2000" b="1" dirty="0" err="1">
                <a:solidFill>
                  <a:schemeClr val="bg1"/>
                </a:solidFill>
                <a:latin typeface="+mj-lt"/>
              </a:rPr>
              <a:t>functions</a:t>
            </a:r>
            <a:endParaRPr lang="ro-RO" sz="2000" b="1" dirty="0">
              <a:solidFill>
                <a:schemeClr val="bg1"/>
              </a:solidFill>
              <a:latin typeface="+mj-lt"/>
            </a:endParaRPr>
          </a:p>
          <a:p>
            <a:pPr marL="342900" indent="-342900">
              <a:buFont typeface="Arial" panose="020B0604020202020204" pitchFamily="34" charset="0"/>
              <a:buChar char="•"/>
            </a:pPr>
            <a:r>
              <a:rPr lang="ro-RO" sz="2000" b="1" dirty="0" err="1">
                <a:solidFill>
                  <a:schemeClr val="bg1"/>
                </a:solidFill>
                <a:latin typeface="+mj-lt"/>
              </a:rPr>
              <a:t>test_bit</a:t>
            </a:r>
            <a:r>
              <a:rPr lang="ro-RO" sz="2000" b="1" dirty="0">
                <a:solidFill>
                  <a:schemeClr val="bg1"/>
                </a:solidFill>
                <a:latin typeface="+mj-lt"/>
              </a:rPr>
              <a:t>()</a:t>
            </a:r>
          </a:p>
          <a:p>
            <a:pPr marL="342900" indent="-342900">
              <a:buFont typeface="Arial" panose="020B0604020202020204" pitchFamily="34" charset="0"/>
              <a:buChar char="•"/>
            </a:pPr>
            <a:r>
              <a:rPr lang="ro-RO" sz="2000" b="1" dirty="0" err="1">
                <a:solidFill>
                  <a:schemeClr val="bg1"/>
                </a:solidFill>
                <a:latin typeface="+mj-lt"/>
              </a:rPr>
              <a:t>set_bit</a:t>
            </a:r>
            <a:r>
              <a:rPr lang="ro-RO" sz="2000" b="1" dirty="0">
                <a:solidFill>
                  <a:schemeClr val="bg1"/>
                </a:solidFill>
                <a:latin typeface="+mj-lt"/>
              </a:rPr>
              <a:t>(</a:t>
            </a:r>
            <a:r>
              <a:rPr lang="ro-RO" sz="2000" b="1" dirty="0" err="1">
                <a:solidFill>
                  <a:schemeClr val="bg1"/>
                </a:solidFill>
                <a:latin typeface="+mj-lt"/>
              </a:rPr>
              <a:t>port,pin</a:t>
            </a:r>
            <a:r>
              <a:rPr lang="ro-RO" sz="2000" b="1" dirty="0">
                <a:solidFill>
                  <a:schemeClr val="bg1"/>
                </a:solidFill>
                <a:latin typeface="+mj-lt"/>
              </a:rPr>
              <a:t>)</a:t>
            </a:r>
          </a:p>
          <a:p>
            <a:pPr marL="342900" indent="-342900">
              <a:buFont typeface="Arial" panose="020B0604020202020204" pitchFamily="34" charset="0"/>
              <a:buChar char="•"/>
            </a:pPr>
            <a:r>
              <a:rPr lang="ro-RO" sz="2000" b="1" dirty="0" err="1">
                <a:solidFill>
                  <a:schemeClr val="bg1"/>
                </a:solidFill>
                <a:latin typeface="+mj-lt"/>
              </a:rPr>
              <a:t>reset_bit</a:t>
            </a:r>
            <a:r>
              <a:rPr lang="ro-RO" sz="2000" b="1" dirty="0">
                <a:solidFill>
                  <a:schemeClr val="bg1"/>
                </a:solidFill>
                <a:latin typeface="+mj-lt"/>
              </a:rPr>
              <a:t>(</a:t>
            </a:r>
            <a:r>
              <a:rPr lang="ro-RO" sz="2000" b="1" dirty="0" err="1">
                <a:solidFill>
                  <a:schemeClr val="bg1"/>
                </a:solidFill>
                <a:latin typeface="+mj-lt"/>
              </a:rPr>
              <a:t>port,pin</a:t>
            </a:r>
            <a:r>
              <a:rPr lang="ro-RO" sz="2000" b="1" dirty="0">
                <a:solidFill>
                  <a:schemeClr val="bg1"/>
                </a:solidFill>
                <a:latin typeface="+mj-lt"/>
              </a:rPr>
              <a:t>)</a:t>
            </a:r>
          </a:p>
        </p:txBody>
      </p:sp>
    </p:spTree>
    <p:extLst>
      <p:ext uri="{BB962C8B-B14F-4D97-AF65-F5344CB8AC3E}">
        <p14:creationId xmlns:p14="http://schemas.microsoft.com/office/powerpoint/2010/main" val="39690093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3">
            <a:lumMod val="50000"/>
          </a:schemeClr>
        </a:solidFill>
        <a:effectLst/>
      </p:bgPr>
    </p:bg>
    <p:spTree>
      <p:nvGrpSpPr>
        <p:cNvPr id="1" name=""/>
        <p:cNvGrpSpPr/>
        <p:nvPr/>
      </p:nvGrpSpPr>
      <p:grpSpPr>
        <a:xfrm>
          <a:off x="0" y="0"/>
          <a:ext cx="0" cy="0"/>
          <a:chOff x="0" y="0"/>
          <a:chExt cx="0" cy="0"/>
        </a:xfrm>
      </p:grpSpPr>
      <p:sp>
        <p:nvSpPr>
          <p:cNvPr id="7" name="Title 6" hidden="1">
            <a:extLst>
              <a:ext uri="{FF2B5EF4-FFF2-40B4-BE49-F238E27FC236}">
                <a16:creationId xmlns:a16="http://schemas.microsoft.com/office/drawing/2014/main" id="{ED2F5393-91A3-4102-A584-E902285C507A}"/>
              </a:ext>
            </a:extLst>
          </p:cNvPr>
          <p:cNvSpPr>
            <a:spLocks noGrp="1"/>
          </p:cNvSpPr>
          <p:nvPr>
            <p:ph type="title" idx="4294967295"/>
          </p:nvPr>
        </p:nvSpPr>
        <p:spPr>
          <a:xfrm>
            <a:off x="0" y="365125"/>
            <a:ext cx="10515600" cy="1325563"/>
          </a:xfrm>
        </p:spPr>
        <p:txBody>
          <a:bodyPr/>
          <a:lstStyle/>
          <a:p>
            <a:r>
              <a:rPr lang="en-US" dirty="0"/>
              <a:t>Project analysis slide 4</a:t>
            </a: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75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228600" y="159239"/>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o-RO" sz="2800" b="1" dirty="0">
                <a:solidFill>
                  <a:schemeClr val="bg1"/>
                </a:solidFill>
              </a:rPr>
              <a:t>Central </a:t>
            </a:r>
            <a:r>
              <a:rPr lang="ro-RO" sz="2800" b="1" dirty="0" err="1">
                <a:solidFill>
                  <a:schemeClr val="bg1"/>
                </a:solidFill>
              </a:rPr>
              <a:t>Door</a:t>
            </a:r>
            <a:r>
              <a:rPr lang="ro-RO" sz="2800" b="1" dirty="0">
                <a:solidFill>
                  <a:schemeClr val="bg1"/>
                </a:solidFill>
              </a:rPr>
              <a:t> </a:t>
            </a:r>
            <a:r>
              <a:rPr lang="ro-RO" sz="2800" b="1" dirty="0" err="1">
                <a:solidFill>
                  <a:schemeClr val="bg1"/>
                </a:solidFill>
              </a:rPr>
              <a:t>Locking</a:t>
            </a:r>
            <a:br>
              <a:rPr lang="en-US" sz="2800" dirty="0">
                <a:solidFill>
                  <a:schemeClr val="tx1">
                    <a:lumMod val="75000"/>
                    <a:lumOff val="25000"/>
                  </a:schemeClr>
                </a:solidFill>
              </a:rPr>
            </a:b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75000"/>
              </a:schemeClr>
            </a:solidFill>
            <a:tailEnd type="oval"/>
          </a:ln>
        </p:spPr>
        <p:style>
          <a:lnRef idx="1">
            <a:schemeClr val="accent1"/>
          </a:lnRef>
          <a:fillRef idx="0">
            <a:schemeClr val="accent1"/>
          </a:fillRef>
          <a:effectRef idx="0">
            <a:schemeClr val="accent1"/>
          </a:effectRef>
          <a:fontRef idx="minor">
            <a:schemeClr val="tx1"/>
          </a:fontRef>
        </p:style>
      </p:cxnSp>
      <p:sp>
        <p:nvSpPr>
          <p:cNvPr id="4" name="CasetăText 3">
            <a:extLst>
              <a:ext uri="{FF2B5EF4-FFF2-40B4-BE49-F238E27FC236}">
                <a16:creationId xmlns:a16="http://schemas.microsoft.com/office/drawing/2014/main" id="{015A30EA-C0B3-473C-ADCD-7AE9547E4BE0}"/>
              </a:ext>
            </a:extLst>
          </p:cNvPr>
          <p:cNvSpPr txBox="1"/>
          <p:nvPr/>
        </p:nvSpPr>
        <p:spPr>
          <a:xfrm>
            <a:off x="3681046" y="1525835"/>
            <a:ext cx="4829908" cy="646331"/>
          </a:xfrm>
          <a:prstGeom prst="rect">
            <a:avLst/>
          </a:prstGeom>
          <a:noFill/>
        </p:spPr>
        <p:txBody>
          <a:bodyPr wrap="square" rtlCol="0">
            <a:spAutoFit/>
          </a:bodyPr>
          <a:lstStyle/>
          <a:p>
            <a:pPr algn="ctr"/>
            <a:r>
              <a:rPr lang="ro-RO" sz="3600" b="1" dirty="0" err="1">
                <a:solidFill>
                  <a:schemeClr val="bg1"/>
                </a:solidFill>
                <a:latin typeface="+mj-lt"/>
              </a:rPr>
              <a:t>handleButton</a:t>
            </a:r>
            <a:r>
              <a:rPr lang="ro-RO" sz="3600" b="1" dirty="0">
                <a:solidFill>
                  <a:schemeClr val="bg1"/>
                </a:solidFill>
                <a:latin typeface="+mj-lt"/>
              </a:rPr>
              <a:t>()</a:t>
            </a:r>
          </a:p>
        </p:txBody>
      </p:sp>
      <p:sp>
        <p:nvSpPr>
          <p:cNvPr id="5" name="CasetăText 4">
            <a:extLst>
              <a:ext uri="{FF2B5EF4-FFF2-40B4-BE49-F238E27FC236}">
                <a16:creationId xmlns:a16="http://schemas.microsoft.com/office/drawing/2014/main" id="{A8DD63FF-376B-472A-BD4A-441D7DE03B95}"/>
              </a:ext>
            </a:extLst>
          </p:cNvPr>
          <p:cNvSpPr txBox="1"/>
          <p:nvPr/>
        </p:nvSpPr>
        <p:spPr>
          <a:xfrm>
            <a:off x="819568" y="2545848"/>
            <a:ext cx="7034894" cy="1477328"/>
          </a:xfrm>
          <a:prstGeom prst="rect">
            <a:avLst/>
          </a:prstGeom>
          <a:noFill/>
        </p:spPr>
        <p:txBody>
          <a:bodyPr wrap="square" rtlCol="0">
            <a:spAutoFit/>
          </a:bodyPr>
          <a:lstStyle/>
          <a:p>
            <a:r>
              <a:rPr lang="ro-RO" dirty="0" err="1">
                <a:solidFill>
                  <a:schemeClr val="bg1"/>
                </a:solidFill>
                <a:latin typeface="+mj-lt"/>
              </a:rPr>
              <a:t>Explanation</a:t>
            </a:r>
            <a:endParaRPr lang="ro-RO" dirty="0">
              <a:solidFill>
                <a:schemeClr val="bg1"/>
              </a:solidFill>
              <a:latin typeface="+mj-lt"/>
            </a:endParaRPr>
          </a:p>
          <a:p>
            <a:pPr algn="just"/>
            <a:r>
              <a:rPr lang="ro-RO" dirty="0" err="1">
                <a:solidFill>
                  <a:schemeClr val="bg1"/>
                </a:solidFill>
                <a:latin typeface="+mj-lt"/>
              </a:rPr>
              <a:t>This</a:t>
            </a:r>
            <a:r>
              <a:rPr lang="ro-RO" dirty="0">
                <a:solidFill>
                  <a:schemeClr val="bg1"/>
                </a:solidFill>
                <a:latin typeface="+mj-lt"/>
              </a:rPr>
              <a:t> </a:t>
            </a:r>
            <a:r>
              <a:rPr lang="ro-RO" dirty="0" err="1">
                <a:solidFill>
                  <a:schemeClr val="bg1"/>
                </a:solidFill>
                <a:latin typeface="+mj-lt"/>
              </a:rPr>
              <a:t>function</a:t>
            </a:r>
            <a:r>
              <a:rPr lang="ro-RO" dirty="0">
                <a:solidFill>
                  <a:schemeClr val="bg1"/>
                </a:solidFill>
                <a:latin typeface="+mj-lt"/>
              </a:rPr>
              <a:t> </a:t>
            </a:r>
            <a:r>
              <a:rPr lang="ro-RO" dirty="0" err="1">
                <a:solidFill>
                  <a:schemeClr val="bg1"/>
                </a:solidFill>
                <a:latin typeface="+mj-lt"/>
              </a:rPr>
              <a:t>monitors</a:t>
            </a:r>
            <a:r>
              <a:rPr lang="ro-RO" dirty="0">
                <a:solidFill>
                  <a:schemeClr val="bg1"/>
                </a:solidFill>
                <a:latin typeface="+mj-lt"/>
              </a:rPr>
              <a:t> </a:t>
            </a:r>
            <a:r>
              <a:rPr lang="ro-RO" dirty="0" err="1">
                <a:solidFill>
                  <a:schemeClr val="bg1"/>
                </a:solidFill>
                <a:latin typeface="+mj-lt"/>
              </a:rPr>
              <a:t>the</a:t>
            </a:r>
            <a:r>
              <a:rPr lang="ro-RO" dirty="0">
                <a:solidFill>
                  <a:schemeClr val="bg1"/>
                </a:solidFill>
                <a:latin typeface="+mj-lt"/>
              </a:rPr>
              <a:t> </a:t>
            </a:r>
            <a:r>
              <a:rPr lang="ro-RO" dirty="0" err="1">
                <a:solidFill>
                  <a:schemeClr val="bg1"/>
                </a:solidFill>
                <a:latin typeface="+mj-lt"/>
              </a:rPr>
              <a:t>button</a:t>
            </a:r>
            <a:r>
              <a:rPr lang="ro-RO" dirty="0">
                <a:solidFill>
                  <a:schemeClr val="bg1"/>
                </a:solidFill>
                <a:latin typeface="+mj-lt"/>
              </a:rPr>
              <a:t> state </a:t>
            </a:r>
            <a:r>
              <a:rPr lang="ro-RO" dirty="0" err="1">
                <a:solidFill>
                  <a:schemeClr val="bg1"/>
                </a:solidFill>
                <a:latin typeface="+mj-lt"/>
              </a:rPr>
              <a:t>changes,records</a:t>
            </a:r>
            <a:r>
              <a:rPr lang="ro-RO" dirty="0">
                <a:solidFill>
                  <a:schemeClr val="bg1"/>
                </a:solidFill>
                <a:latin typeface="+mj-lt"/>
              </a:rPr>
              <a:t> </a:t>
            </a:r>
            <a:r>
              <a:rPr lang="ro-RO" dirty="0" err="1">
                <a:solidFill>
                  <a:schemeClr val="bg1"/>
                </a:solidFill>
                <a:latin typeface="+mj-lt"/>
              </a:rPr>
              <a:t>press</a:t>
            </a:r>
            <a:r>
              <a:rPr lang="ro-RO" dirty="0">
                <a:solidFill>
                  <a:schemeClr val="bg1"/>
                </a:solidFill>
                <a:latin typeface="+mj-lt"/>
              </a:rPr>
              <a:t> start </a:t>
            </a:r>
            <a:r>
              <a:rPr lang="ro-RO" dirty="0" err="1">
                <a:solidFill>
                  <a:schemeClr val="bg1"/>
                </a:solidFill>
                <a:latin typeface="+mj-lt"/>
              </a:rPr>
              <a:t>time</a:t>
            </a:r>
            <a:r>
              <a:rPr lang="ro-RO" dirty="0">
                <a:solidFill>
                  <a:schemeClr val="bg1"/>
                </a:solidFill>
                <a:latin typeface="+mj-lt"/>
              </a:rPr>
              <a:t> </a:t>
            </a:r>
            <a:r>
              <a:rPr lang="ro-RO" dirty="0" err="1">
                <a:solidFill>
                  <a:schemeClr val="bg1"/>
                </a:solidFill>
                <a:latin typeface="+mj-lt"/>
              </a:rPr>
              <a:t>and</a:t>
            </a:r>
            <a:r>
              <a:rPr lang="ro-RO" dirty="0">
                <a:solidFill>
                  <a:schemeClr val="bg1"/>
                </a:solidFill>
                <a:latin typeface="+mj-lt"/>
              </a:rPr>
              <a:t> </a:t>
            </a:r>
            <a:r>
              <a:rPr lang="ro-RO" dirty="0" err="1">
                <a:solidFill>
                  <a:schemeClr val="bg1"/>
                </a:solidFill>
                <a:latin typeface="+mj-lt"/>
              </a:rPr>
              <a:t>calls</a:t>
            </a:r>
            <a:r>
              <a:rPr lang="ro-RO" dirty="0">
                <a:solidFill>
                  <a:schemeClr val="bg1"/>
                </a:solidFill>
                <a:latin typeface="+mj-lt"/>
              </a:rPr>
              <a:t> </a:t>
            </a:r>
            <a:r>
              <a:rPr lang="ro-RO" dirty="0" err="1">
                <a:solidFill>
                  <a:schemeClr val="bg1"/>
                </a:solidFill>
                <a:latin typeface="+mj-lt"/>
              </a:rPr>
              <a:t>onButtonPressed</a:t>
            </a:r>
            <a:r>
              <a:rPr lang="ro-RO" dirty="0">
                <a:solidFill>
                  <a:schemeClr val="bg1"/>
                </a:solidFill>
                <a:latin typeface="+mj-lt"/>
              </a:rPr>
              <a:t>() &amp; </a:t>
            </a:r>
            <a:r>
              <a:rPr lang="ro-RO" dirty="0" err="1">
                <a:solidFill>
                  <a:schemeClr val="bg1"/>
                </a:solidFill>
                <a:latin typeface="+mj-lt"/>
              </a:rPr>
              <a:t>onButtonReleased</a:t>
            </a:r>
            <a:r>
              <a:rPr lang="ro-RO" dirty="0">
                <a:solidFill>
                  <a:schemeClr val="bg1"/>
                </a:solidFill>
                <a:latin typeface="+mj-lt"/>
              </a:rPr>
              <a:t>() for </a:t>
            </a:r>
            <a:r>
              <a:rPr lang="ro-RO" dirty="0" err="1">
                <a:solidFill>
                  <a:schemeClr val="bg1"/>
                </a:solidFill>
                <a:latin typeface="+mj-lt"/>
              </a:rPr>
              <a:t>press</a:t>
            </a:r>
            <a:r>
              <a:rPr lang="ro-RO" dirty="0">
                <a:solidFill>
                  <a:schemeClr val="bg1"/>
                </a:solidFill>
                <a:latin typeface="+mj-lt"/>
              </a:rPr>
              <a:t> &amp; </a:t>
            </a:r>
            <a:r>
              <a:rPr lang="ro-RO" dirty="0" err="1">
                <a:solidFill>
                  <a:schemeClr val="bg1"/>
                </a:solidFill>
                <a:latin typeface="+mj-lt"/>
              </a:rPr>
              <a:t>released</a:t>
            </a:r>
            <a:r>
              <a:rPr lang="ro-RO" dirty="0">
                <a:solidFill>
                  <a:schemeClr val="bg1"/>
                </a:solidFill>
                <a:latin typeface="+mj-lt"/>
              </a:rPr>
              <a:t> </a:t>
            </a:r>
            <a:r>
              <a:rPr lang="ro-RO" dirty="0" err="1">
                <a:solidFill>
                  <a:schemeClr val="bg1"/>
                </a:solidFill>
                <a:latin typeface="+mj-lt"/>
              </a:rPr>
              <a:t>actions</a:t>
            </a:r>
            <a:r>
              <a:rPr lang="ro-RO" dirty="0">
                <a:solidFill>
                  <a:schemeClr val="bg1"/>
                </a:solidFill>
                <a:latin typeface="+mj-lt"/>
              </a:rPr>
              <a:t>.</a:t>
            </a:r>
          </a:p>
          <a:p>
            <a:pPr algn="just"/>
            <a:r>
              <a:rPr lang="ro-RO" dirty="0">
                <a:solidFill>
                  <a:schemeClr val="bg1"/>
                </a:solidFill>
                <a:latin typeface="+mj-lt"/>
              </a:rPr>
              <a:t> </a:t>
            </a:r>
          </a:p>
        </p:txBody>
      </p:sp>
      <p:pic>
        <p:nvPicPr>
          <p:cNvPr id="6" name="Imagine 5">
            <a:extLst>
              <a:ext uri="{FF2B5EF4-FFF2-40B4-BE49-F238E27FC236}">
                <a16:creationId xmlns:a16="http://schemas.microsoft.com/office/drawing/2014/main" id="{26EA1E0F-964B-4478-AF3A-AF14CD5DE1F8}"/>
              </a:ext>
            </a:extLst>
          </p:cNvPr>
          <p:cNvPicPr>
            <a:picLocks noChangeAspect="1"/>
          </p:cNvPicPr>
          <p:nvPr/>
        </p:nvPicPr>
        <p:blipFill>
          <a:blip r:embed="rId3"/>
          <a:stretch>
            <a:fillRect/>
          </a:stretch>
        </p:blipFill>
        <p:spPr>
          <a:xfrm>
            <a:off x="8105775" y="2624047"/>
            <a:ext cx="3883742" cy="2798258"/>
          </a:xfrm>
          <a:prstGeom prst="rect">
            <a:avLst/>
          </a:prstGeom>
        </p:spPr>
      </p:pic>
    </p:spTree>
    <p:extLst>
      <p:ext uri="{BB962C8B-B14F-4D97-AF65-F5344CB8AC3E}">
        <p14:creationId xmlns:p14="http://schemas.microsoft.com/office/powerpoint/2010/main" val="27225049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3">
            <a:lumMod val="50000"/>
          </a:schemeClr>
        </a:solidFill>
        <a:effectLst/>
      </p:bgPr>
    </p:bg>
    <p:spTree>
      <p:nvGrpSpPr>
        <p:cNvPr id="1" name=""/>
        <p:cNvGrpSpPr/>
        <p:nvPr/>
      </p:nvGrpSpPr>
      <p:grpSpPr>
        <a:xfrm>
          <a:off x="0" y="0"/>
          <a:ext cx="0" cy="0"/>
          <a:chOff x="0" y="0"/>
          <a:chExt cx="0" cy="0"/>
        </a:xfrm>
      </p:grpSpPr>
      <p:sp>
        <p:nvSpPr>
          <p:cNvPr id="7" name="Title 6" hidden="1">
            <a:extLst>
              <a:ext uri="{FF2B5EF4-FFF2-40B4-BE49-F238E27FC236}">
                <a16:creationId xmlns:a16="http://schemas.microsoft.com/office/drawing/2014/main" id="{ED2F5393-91A3-4102-A584-E902285C507A}"/>
              </a:ext>
            </a:extLst>
          </p:cNvPr>
          <p:cNvSpPr>
            <a:spLocks noGrp="1"/>
          </p:cNvSpPr>
          <p:nvPr>
            <p:ph type="title" idx="4294967295"/>
          </p:nvPr>
        </p:nvSpPr>
        <p:spPr>
          <a:xfrm>
            <a:off x="0" y="365125"/>
            <a:ext cx="10515600" cy="1325563"/>
          </a:xfrm>
        </p:spPr>
        <p:txBody>
          <a:bodyPr/>
          <a:lstStyle/>
          <a:p>
            <a:r>
              <a:rPr lang="en-US" dirty="0"/>
              <a:t>Project analysis slide 4</a:t>
            </a: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75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228600" y="159239"/>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o-RO" sz="2800" b="1" dirty="0">
                <a:solidFill>
                  <a:schemeClr val="bg1"/>
                </a:solidFill>
              </a:rPr>
              <a:t>Central </a:t>
            </a:r>
            <a:r>
              <a:rPr lang="ro-RO" sz="2800" b="1" dirty="0" err="1">
                <a:solidFill>
                  <a:schemeClr val="bg1"/>
                </a:solidFill>
              </a:rPr>
              <a:t>Door</a:t>
            </a:r>
            <a:r>
              <a:rPr lang="ro-RO" sz="2800" b="1" dirty="0">
                <a:solidFill>
                  <a:schemeClr val="bg1"/>
                </a:solidFill>
              </a:rPr>
              <a:t> </a:t>
            </a:r>
            <a:r>
              <a:rPr lang="ro-RO" sz="2800" b="1" dirty="0" err="1">
                <a:solidFill>
                  <a:schemeClr val="bg1"/>
                </a:solidFill>
              </a:rPr>
              <a:t>Locking</a:t>
            </a:r>
            <a:br>
              <a:rPr lang="en-US" sz="2800" dirty="0">
                <a:solidFill>
                  <a:schemeClr val="tx1">
                    <a:lumMod val="75000"/>
                    <a:lumOff val="25000"/>
                  </a:schemeClr>
                </a:solidFill>
              </a:rPr>
            </a:b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75000"/>
              </a:schemeClr>
            </a:solidFill>
            <a:tailEnd type="oval"/>
          </a:ln>
        </p:spPr>
        <p:style>
          <a:lnRef idx="1">
            <a:schemeClr val="accent1"/>
          </a:lnRef>
          <a:fillRef idx="0">
            <a:schemeClr val="accent1"/>
          </a:fillRef>
          <a:effectRef idx="0">
            <a:schemeClr val="accent1"/>
          </a:effectRef>
          <a:fontRef idx="minor">
            <a:schemeClr val="tx1"/>
          </a:fontRef>
        </p:style>
      </p:cxnSp>
      <p:sp>
        <p:nvSpPr>
          <p:cNvPr id="4" name="CasetăText 3">
            <a:extLst>
              <a:ext uri="{FF2B5EF4-FFF2-40B4-BE49-F238E27FC236}">
                <a16:creationId xmlns:a16="http://schemas.microsoft.com/office/drawing/2014/main" id="{015A30EA-C0B3-473C-ADCD-7AE9547E4BE0}"/>
              </a:ext>
            </a:extLst>
          </p:cNvPr>
          <p:cNvSpPr txBox="1"/>
          <p:nvPr/>
        </p:nvSpPr>
        <p:spPr>
          <a:xfrm>
            <a:off x="3001107" y="1368629"/>
            <a:ext cx="6511130" cy="1200329"/>
          </a:xfrm>
          <a:prstGeom prst="rect">
            <a:avLst/>
          </a:prstGeom>
          <a:noFill/>
        </p:spPr>
        <p:txBody>
          <a:bodyPr wrap="square" rtlCol="0">
            <a:spAutoFit/>
          </a:bodyPr>
          <a:lstStyle/>
          <a:p>
            <a:pPr algn="ctr"/>
            <a:r>
              <a:rPr lang="ro-RO" sz="3600" b="1" dirty="0" err="1">
                <a:solidFill>
                  <a:schemeClr val="bg1"/>
                </a:solidFill>
                <a:latin typeface="+mj-lt"/>
              </a:rPr>
              <a:t>onButtonPressed</a:t>
            </a:r>
            <a:r>
              <a:rPr lang="ro-RO" sz="3600" b="1" dirty="0">
                <a:solidFill>
                  <a:schemeClr val="bg1"/>
                </a:solidFill>
                <a:latin typeface="+mj-lt"/>
              </a:rPr>
              <a:t>(</a:t>
            </a:r>
            <a:r>
              <a:rPr lang="ro-RO" sz="3600" b="1" dirty="0" err="1">
                <a:solidFill>
                  <a:schemeClr val="bg1"/>
                </a:solidFill>
                <a:latin typeface="+mj-lt"/>
              </a:rPr>
              <a:t>pressStart</a:t>
            </a:r>
            <a:r>
              <a:rPr lang="ro-RO" sz="3600" b="1" dirty="0">
                <a:solidFill>
                  <a:schemeClr val="bg1"/>
                </a:solidFill>
                <a:latin typeface="+mj-lt"/>
              </a:rPr>
              <a:t>)</a:t>
            </a:r>
          </a:p>
          <a:p>
            <a:pPr algn="ctr"/>
            <a:endParaRPr lang="ro-RO" sz="3600" b="1" dirty="0">
              <a:solidFill>
                <a:schemeClr val="bg1"/>
              </a:solidFill>
              <a:latin typeface="+mj-lt"/>
            </a:endParaRPr>
          </a:p>
        </p:txBody>
      </p:sp>
      <p:sp>
        <p:nvSpPr>
          <p:cNvPr id="5" name="CasetăText 4">
            <a:extLst>
              <a:ext uri="{FF2B5EF4-FFF2-40B4-BE49-F238E27FC236}">
                <a16:creationId xmlns:a16="http://schemas.microsoft.com/office/drawing/2014/main" id="{A8DD63FF-376B-472A-BD4A-441D7DE03B95}"/>
              </a:ext>
            </a:extLst>
          </p:cNvPr>
          <p:cNvSpPr txBox="1"/>
          <p:nvPr/>
        </p:nvSpPr>
        <p:spPr>
          <a:xfrm>
            <a:off x="830660" y="2733417"/>
            <a:ext cx="6511130" cy="1200329"/>
          </a:xfrm>
          <a:prstGeom prst="rect">
            <a:avLst/>
          </a:prstGeom>
          <a:noFill/>
        </p:spPr>
        <p:txBody>
          <a:bodyPr wrap="square" rtlCol="0">
            <a:spAutoFit/>
          </a:bodyPr>
          <a:lstStyle/>
          <a:p>
            <a:r>
              <a:rPr lang="ro-RO" dirty="0" err="1">
                <a:solidFill>
                  <a:schemeClr val="bg1"/>
                </a:solidFill>
                <a:latin typeface="+mj-lt"/>
              </a:rPr>
              <a:t>Explanation</a:t>
            </a:r>
            <a:endParaRPr lang="ro-RO" dirty="0">
              <a:solidFill>
                <a:schemeClr val="bg1"/>
              </a:solidFill>
              <a:latin typeface="+mj-lt"/>
            </a:endParaRPr>
          </a:p>
          <a:p>
            <a:pPr algn="just"/>
            <a:r>
              <a:rPr lang="ro-RO" dirty="0" err="1">
                <a:solidFill>
                  <a:schemeClr val="bg1"/>
                </a:solidFill>
                <a:latin typeface="+mj-lt"/>
              </a:rPr>
              <a:t>This</a:t>
            </a:r>
            <a:r>
              <a:rPr lang="ro-RO" dirty="0">
                <a:solidFill>
                  <a:schemeClr val="bg1"/>
                </a:solidFill>
                <a:latin typeface="+mj-lt"/>
              </a:rPr>
              <a:t> </a:t>
            </a:r>
            <a:r>
              <a:rPr lang="ro-RO" dirty="0" err="1">
                <a:solidFill>
                  <a:schemeClr val="bg1"/>
                </a:solidFill>
                <a:latin typeface="+mj-lt"/>
              </a:rPr>
              <a:t>function</a:t>
            </a:r>
            <a:r>
              <a:rPr lang="ro-RO" dirty="0">
                <a:solidFill>
                  <a:schemeClr val="bg1"/>
                </a:solidFill>
                <a:latin typeface="+mj-lt"/>
              </a:rPr>
              <a:t> </a:t>
            </a:r>
            <a:r>
              <a:rPr lang="ro-RO" dirty="0" err="1">
                <a:solidFill>
                  <a:schemeClr val="bg1"/>
                </a:solidFill>
                <a:latin typeface="+mj-lt"/>
              </a:rPr>
              <a:t>monitors</a:t>
            </a:r>
            <a:r>
              <a:rPr lang="ro-RO" dirty="0">
                <a:solidFill>
                  <a:schemeClr val="bg1"/>
                </a:solidFill>
                <a:latin typeface="+mj-lt"/>
              </a:rPr>
              <a:t> </a:t>
            </a:r>
            <a:r>
              <a:rPr lang="ro-RO" dirty="0" err="1">
                <a:solidFill>
                  <a:schemeClr val="bg1"/>
                </a:solidFill>
                <a:latin typeface="+mj-lt"/>
              </a:rPr>
              <a:t>the</a:t>
            </a:r>
            <a:r>
              <a:rPr lang="ro-RO" dirty="0">
                <a:solidFill>
                  <a:schemeClr val="bg1"/>
                </a:solidFill>
                <a:latin typeface="+mj-lt"/>
              </a:rPr>
              <a:t> </a:t>
            </a:r>
            <a:r>
              <a:rPr lang="ro-RO" dirty="0" err="1">
                <a:solidFill>
                  <a:schemeClr val="bg1"/>
                </a:solidFill>
                <a:latin typeface="+mj-lt"/>
              </a:rPr>
              <a:t>duration</a:t>
            </a:r>
            <a:r>
              <a:rPr lang="ro-RO" dirty="0">
                <a:solidFill>
                  <a:schemeClr val="bg1"/>
                </a:solidFill>
                <a:latin typeface="+mj-lt"/>
              </a:rPr>
              <a:t> of </a:t>
            </a:r>
            <a:r>
              <a:rPr lang="ro-RO" dirty="0" err="1">
                <a:solidFill>
                  <a:schemeClr val="bg1"/>
                </a:solidFill>
                <a:latin typeface="+mj-lt"/>
              </a:rPr>
              <a:t>press</a:t>
            </a:r>
            <a:r>
              <a:rPr lang="ro-RO" dirty="0">
                <a:solidFill>
                  <a:schemeClr val="bg1"/>
                </a:solidFill>
                <a:latin typeface="+mj-lt"/>
              </a:rPr>
              <a:t> </a:t>
            </a:r>
            <a:r>
              <a:rPr lang="ro-RO" dirty="0" err="1">
                <a:solidFill>
                  <a:schemeClr val="bg1"/>
                </a:solidFill>
                <a:latin typeface="+mj-lt"/>
              </a:rPr>
              <a:t>button</a:t>
            </a:r>
            <a:r>
              <a:rPr lang="ro-RO" dirty="0">
                <a:solidFill>
                  <a:schemeClr val="bg1"/>
                </a:solidFill>
                <a:latin typeface="+mj-lt"/>
              </a:rPr>
              <a:t> </a:t>
            </a:r>
            <a:r>
              <a:rPr lang="ro-RO" dirty="0" err="1">
                <a:solidFill>
                  <a:schemeClr val="bg1"/>
                </a:solidFill>
                <a:latin typeface="+mj-lt"/>
              </a:rPr>
              <a:t>and</a:t>
            </a:r>
            <a:r>
              <a:rPr lang="ro-RO" dirty="0">
                <a:solidFill>
                  <a:schemeClr val="bg1"/>
                </a:solidFill>
                <a:latin typeface="+mj-lt"/>
              </a:rPr>
              <a:t> </a:t>
            </a:r>
            <a:r>
              <a:rPr lang="ro-RO" dirty="0" err="1">
                <a:solidFill>
                  <a:schemeClr val="bg1"/>
                </a:solidFill>
                <a:latin typeface="+mj-lt"/>
              </a:rPr>
              <a:t>initiates</a:t>
            </a:r>
            <a:r>
              <a:rPr lang="ro-RO" dirty="0">
                <a:solidFill>
                  <a:schemeClr val="bg1"/>
                </a:solidFill>
                <a:latin typeface="+mj-lt"/>
              </a:rPr>
              <a:t> an </a:t>
            </a:r>
            <a:r>
              <a:rPr lang="ro-RO" dirty="0" err="1">
                <a:solidFill>
                  <a:schemeClr val="bg1"/>
                </a:solidFill>
                <a:latin typeface="+mj-lt"/>
              </a:rPr>
              <a:t>unlock</a:t>
            </a:r>
            <a:r>
              <a:rPr lang="ro-RO" dirty="0">
                <a:solidFill>
                  <a:schemeClr val="bg1"/>
                </a:solidFill>
                <a:latin typeface="+mj-lt"/>
              </a:rPr>
              <a:t> </a:t>
            </a:r>
            <a:r>
              <a:rPr lang="ro-RO" dirty="0" err="1">
                <a:solidFill>
                  <a:schemeClr val="bg1"/>
                </a:solidFill>
                <a:latin typeface="+mj-lt"/>
              </a:rPr>
              <a:t>action</a:t>
            </a:r>
            <a:r>
              <a:rPr lang="ro-RO" dirty="0">
                <a:solidFill>
                  <a:schemeClr val="bg1"/>
                </a:solidFill>
                <a:latin typeface="+mj-lt"/>
              </a:rPr>
              <a:t>.</a:t>
            </a:r>
          </a:p>
          <a:p>
            <a:pPr algn="just"/>
            <a:r>
              <a:rPr lang="ro-RO" dirty="0">
                <a:solidFill>
                  <a:schemeClr val="bg1"/>
                </a:solidFill>
                <a:latin typeface="+mj-lt"/>
              </a:rPr>
              <a:t> </a:t>
            </a:r>
          </a:p>
        </p:txBody>
      </p:sp>
      <p:pic>
        <p:nvPicPr>
          <p:cNvPr id="3" name="Imagine 2">
            <a:extLst>
              <a:ext uri="{FF2B5EF4-FFF2-40B4-BE49-F238E27FC236}">
                <a16:creationId xmlns:a16="http://schemas.microsoft.com/office/drawing/2014/main" id="{C19549E9-1C31-4888-AD78-4B73E1F1EC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42379" y="2614953"/>
            <a:ext cx="4139716" cy="1585423"/>
          </a:xfrm>
          <a:prstGeom prst="rect">
            <a:avLst/>
          </a:prstGeom>
        </p:spPr>
      </p:pic>
    </p:spTree>
    <p:extLst>
      <p:ext uri="{BB962C8B-B14F-4D97-AF65-F5344CB8AC3E}">
        <p14:creationId xmlns:p14="http://schemas.microsoft.com/office/powerpoint/2010/main" val="16396928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3">
            <a:lumMod val="50000"/>
          </a:schemeClr>
        </a:solidFill>
        <a:effectLst/>
      </p:bgPr>
    </p:bg>
    <p:spTree>
      <p:nvGrpSpPr>
        <p:cNvPr id="1" name=""/>
        <p:cNvGrpSpPr/>
        <p:nvPr/>
      </p:nvGrpSpPr>
      <p:grpSpPr>
        <a:xfrm>
          <a:off x="0" y="0"/>
          <a:ext cx="0" cy="0"/>
          <a:chOff x="0" y="0"/>
          <a:chExt cx="0" cy="0"/>
        </a:xfrm>
      </p:grpSpPr>
      <p:sp>
        <p:nvSpPr>
          <p:cNvPr id="7" name="Title 6" hidden="1">
            <a:extLst>
              <a:ext uri="{FF2B5EF4-FFF2-40B4-BE49-F238E27FC236}">
                <a16:creationId xmlns:a16="http://schemas.microsoft.com/office/drawing/2014/main" id="{ED2F5393-91A3-4102-A584-E902285C507A}"/>
              </a:ext>
            </a:extLst>
          </p:cNvPr>
          <p:cNvSpPr>
            <a:spLocks noGrp="1"/>
          </p:cNvSpPr>
          <p:nvPr>
            <p:ph type="title" idx="4294967295"/>
          </p:nvPr>
        </p:nvSpPr>
        <p:spPr>
          <a:xfrm>
            <a:off x="0" y="365125"/>
            <a:ext cx="10515600" cy="1325563"/>
          </a:xfrm>
        </p:spPr>
        <p:txBody>
          <a:bodyPr/>
          <a:lstStyle/>
          <a:p>
            <a:r>
              <a:rPr lang="en-US" dirty="0"/>
              <a:t>Project analysis slide 4</a:t>
            </a: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75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228600" y="159239"/>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o-RO" sz="2800" b="1" dirty="0">
                <a:solidFill>
                  <a:schemeClr val="bg1"/>
                </a:solidFill>
              </a:rPr>
              <a:t>Central </a:t>
            </a:r>
            <a:r>
              <a:rPr lang="ro-RO" sz="2800" b="1" dirty="0" err="1">
                <a:solidFill>
                  <a:schemeClr val="bg1"/>
                </a:solidFill>
              </a:rPr>
              <a:t>Door</a:t>
            </a:r>
            <a:r>
              <a:rPr lang="ro-RO" sz="2800" b="1" dirty="0">
                <a:solidFill>
                  <a:schemeClr val="bg1"/>
                </a:solidFill>
              </a:rPr>
              <a:t> </a:t>
            </a:r>
            <a:r>
              <a:rPr lang="ro-RO" sz="2800" b="1" dirty="0" err="1">
                <a:solidFill>
                  <a:schemeClr val="bg1"/>
                </a:solidFill>
              </a:rPr>
              <a:t>Locking</a:t>
            </a:r>
            <a:br>
              <a:rPr lang="en-US" sz="2800" dirty="0">
                <a:solidFill>
                  <a:schemeClr val="tx1">
                    <a:lumMod val="75000"/>
                    <a:lumOff val="25000"/>
                  </a:schemeClr>
                </a:solidFill>
              </a:rPr>
            </a:b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75000"/>
              </a:schemeClr>
            </a:solidFill>
            <a:tailEnd type="oval"/>
          </a:ln>
        </p:spPr>
        <p:style>
          <a:lnRef idx="1">
            <a:schemeClr val="accent1"/>
          </a:lnRef>
          <a:fillRef idx="0">
            <a:schemeClr val="accent1"/>
          </a:fillRef>
          <a:effectRef idx="0">
            <a:schemeClr val="accent1"/>
          </a:effectRef>
          <a:fontRef idx="minor">
            <a:schemeClr val="tx1"/>
          </a:fontRef>
        </p:style>
      </p:cxnSp>
      <p:sp>
        <p:nvSpPr>
          <p:cNvPr id="4" name="CasetăText 3">
            <a:extLst>
              <a:ext uri="{FF2B5EF4-FFF2-40B4-BE49-F238E27FC236}">
                <a16:creationId xmlns:a16="http://schemas.microsoft.com/office/drawing/2014/main" id="{015A30EA-C0B3-473C-ADCD-7AE9547E4BE0}"/>
              </a:ext>
            </a:extLst>
          </p:cNvPr>
          <p:cNvSpPr txBox="1"/>
          <p:nvPr/>
        </p:nvSpPr>
        <p:spPr>
          <a:xfrm>
            <a:off x="2375876" y="1495845"/>
            <a:ext cx="8213970" cy="1200329"/>
          </a:xfrm>
          <a:prstGeom prst="rect">
            <a:avLst/>
          </a:prstGeom>
          <a:noFill/>
        </p:spPr>
        <p:txBody>
          <a:bodyPr wrap="square" rtlCol="0">
            <a:spAutoFit/>
          </a:bodyPr>
          <a:lstStyle/>
          <a:p>
            <a:pPr algn="ctr"/>
            <a:r>
              <a:rPr lang="ro-RO" sz="3600" b="1" dirty="0" err="1">
                <a:solidFill>
                  <a:schemeClr val="bg1"/>
                </a:solidFill>
                <a:latin typeface="+mj-lt"/>
              </a:rPr>
              <a:t>onButtonReleased</a:t>
            </a:r>
            <a:r>
              <a:rPr lang="ro-RO" sz="3600" b="1" dirty="0">
                <a:solidFill>
                  <a:schemeClr val="bg1"/>
                </a:solidFill>
                <a:latin typeface="+mj-lt"/>
              </a:rPr>
              <a:t>(</a:t>
            </a:r>
            <a:r>
              <a:rPr lang="ro-RO" sz="3600" b="1" dirty="0" err="1">
                <a:solidFill>
                  <a:schemeClr val="bg1"/>
                </a:solidFill>
                <a:latin typeface="+mj-lt"/>
              </a:rPr>
              <a:t>pressDuration</a:t>
            </a:r>
            <a:r>
              <a:rPr lang="ro-RO" sz="3600" b="1" dirty="0">
                <a:solidFill>
                  <a:schemeClr val="bg1"/>
                </a:solidFill>
                <a:latin typeface="+mj-lt"/>
              </a:rPr>
              <a:t>)</a:t>
            </a:r>
          </a:p>
          <a:p>
            <a:pPr algn="ctr"/>
            <a:endParaRPr lang="ro-RO" sz="3600" b="1" dirty="0">
              <a:solidFill>
                <a:schemeClr val="bg1"/>
              </a:solidFill>
              <a:latin typeface="+mj-lt"/>
            </a:endParaRPr>
          </a:p>
        </p:txBody>
      </p:sp>
      <p:sp>
        <p:nvSpPr>
          <p:cNvPr id="5" name="CasetăText 4">
            <a:extLst>
              <a:ext uri="{FF2B5EF4-FFF2-40B4-BE49-F238E27FC236}">
                <a16:creationId xmlns:a16="http://schemas.microsoft.com/office/drawing/2014/main" id="{A8DD63FF-376B-472A-BD4A-441D7DE03B95}"/>
              </a:ext>
            </a:extLst>
          </p:cNvPr>
          <p:cNvSpPr txBox="1"/>
          <p:nvPr/>
        </p:nvSpPr>
        <p:spPr>
          <a:xfrm>
            <a:off x="830660" y="2733417"/>
            <a:ext cx="5085586" cy="1200329"/>
          </a:xfrm>
          <a:prstGeom prst="rect">
            <a:avLst/>
          </a:prstGeom>
          <a:noFill/>
        </p:spPr>
        <p:txBody>
          <a:bodyPr wrap="square" rtlCol="0">
            <a:spAutoFit/>
          </a:bodyPr>
          <a:lstStyle/>
          <a:p>
            <a:r>
              <a:rPr lang="ro-RO" dirty="0" err="1">
                <a:solidFill>
                  <a:schemeClr val="bg1"/>
                </a:solidFill>
                <a:latin typeface="+mj-lt"/>
              </a:rPr>
              <a:t>Explanation</a:t>
            </a:r>
            <a:endParaRPr lang="ro-RO" dirty="0">
              <a:solidFill>
                <a:schemeClr val="bg1"/>
              </a:solidFill>
              <a:latin typeface="+mj-lt"/>
            </a:endParaRPr>
          </a:p>
          <a:p>
            <a:pPr algn="just"/>
            <a:r>
              <a:rPr lang="ro-RO" dirty="0" err="1">
                <a:solidFill>
                  <a:schemeClr val="bg1"/>
                </a:solidFill>
                <a:latin typeface="+mj-lt"/>
              </a:rPr>
              <a:t>This</a:t>
            </a:r>
            <a:r>
              <a:rPr lang="ro-RO" dirty="0">
                <a:solidFill>
                  <a:schemeClr val="bg1"/>
                </a:solidFill>
                <a:latin typeface="+mj-lt"/>
              </a:rPr>
              <a:t> </a:t>
            </a:r>
            <a:r>
              <a:rPr lang="ro-RO" dirty="0" err="1">
                <a:solidFill>
                  <a:schemeClr val="bg1"/>
                </a:solidFill>
                <a:latin typeface="+mj-lt"/>
              </a:rPr>
              <a:t>function</a:t>
            </a:r>
            <a:r>
              <a:rPr lang="ro-RO" dirty="0">
                <a:solidFill>
                  <a:schemeClr val="bg1"/>
                </a:solidFill>
                <a:latin typeface="+mj-lt"/>
              </a:rPr>
              <a:t> </a:t>
            </a:r>
            <a:r>
              <a:rPr lang="ro-RO" dirty="0" err="1">
                <a:solidFill>
                  <a:schemeClr val="bg1"/>
                </a:solidFill>
                <a:latin typeface="+mj-lt"/>
              </a:rPr>
              <a:t>executes</a:t>
            </a:r>
            <a:r>
              <a:rPr lang="ro-RO" dirty="0">
                <a:solidFill>
                  <a:schemeClr val="bg1"/>
                </a:solidFill>
                <a:latin typeface="+mj-lt"/>
              </a:rPr>
              <a:t> </a:t>
            </a:r>
            <a:r>
              <a:rPr lang="ro-RO" dirty="0" err="1">
                <a:solidFill>
                  <a:schemeClr val="bg1"/>
                </a:solidFill>
                <a:latin typeface="+mj-lt"/>
              </a:rPr>
              <a:t>action</a:t>
            </a:r>
            <a:r>
              <a:rPr lang="ro-RO" dirty="0">
                <a:solidFill>
                  <a:schemeClr val="bg1"/>
                </a:solidFill>
                <a:latin typeface="+mj-lt"/>
              </a:rPr>
              <a:t> </a:t>
            </a:r>
            <a:r>
              <a:rPr lang="ro-RO" dirty="0" err="1">
                <a:solidFill>
                  <a:schemeClr val="bg1"/>
                </a:solidFill>
                <a:latin typeface="+mj-lt"/>
              </a:rPr>
              <a:t>based</a:t>
            </a:r>
            <a:r>
              <a:rPr lang="ro-RO" dirty="0">
                <a:solidFill>
                  <a:schemeClr val="bg1"/>
                </a:solidFill>
                <a:latin typeface="+mj-lt"/>
              </a:rPr>
              <a:t> on </a:t>
            </a:r>
            <a:r>
              <a:rPr lang="ro-RO" dirty="0" err="1">
                <a:solidFill>
                  <a:schemeClr val="bg1"/>
                </a:solidFill>
                <a:latin typeface="+mj-lt"/>
              </a:rPr>
              <a:t>the</a:t>
            </a:r>
            <a:r>
              <a:rPr lang="ro-RO" dirty="0">
                <a:solidFill>
                  <a:schemeClr val="bg1"/>
                </a:solidFill>
                <a:latin typeface="+mj-lt"/>
              </a:rPr>
              <a:t> </a:t>
            </a:r>
            <a:r>
              <a:rPr lang="ro-RO" dirty="0" err="1">
                <a:solidFill>
                  <a:schemeClr val="bg1"/>
                </a:solidFill>
                <a:latin typeface="+mj-lt"/>
              </a:rPr>
              <a:t>duration</a:t>
            </a:r>
            <a:r>
              <a:rPr lang="ro-RO" dirty="0">
                <a:solidFill>
                  <a:schemeClr val="bg1"/>
                </a:solidFill>
                <a:latin typeface="+mj-lt"/>
              </a:rPr>
              <a:t> of </a:t>
            </a:r>
            <a:r>
              <a:rPr lang="ro-RO" dirty="0" err="1">
                <a:solidFill>
                  <a:schemeClr val="bg1"/>
                </a:solidFill>
                <a:latin typeface="+mj-lt"/>
              </a:rPr>
              <a:t>the</a:t>
            </a:r>
            <a:r>
              <a:rPr lang="ro-RO" dirty="0">
                <a:solidFill>
                  <a:schemeClr val="bg1"/>
                </a:solidFill>
                <a:latin typeface="+mj-lt"/>
              </a:rPr>
              <a:t> </a:t>
            </a:r>
            <a:r>
              <a:rPr lang="ro-RO" dirty="0" err="1">
                <a:solidFill>
                  <a:schemeClr val="bg1"/>
                </a:solidFill>
                <a:latin typeface="+mj-lt"/>
              </a:rPr>
              <a:t>button</a:t>
            </a:r>
            <a:r>
              <a:rPr lang="ro-RO" dirty="0">
                <a:solidFill>
                  <a:schemeClr val="bg1"/>
                </a:solidFill>
                <a:latin typeface="+mj-lt"/>
              </a:rPr>
              <a:t> </a:t>
            </a:r>
            <a:r>
              <a:rPr lang="ro-RO" dirty="0" err="1">
                <a:solidFill>
                  <a:schemeClr val="bg1"/>
                </a:solidFill>
                <a:latin typeface="+mj-lt"/>
              </a:rPr>
              <a:t>press</a:t>
            </a:r>
            <a:r>
              <a:rPr lang="ro-RO" dirty="0">
                <a:solidFill>
                  <a:schemeClr val="bg1"/>
                </a:solidFill>
                <a:latin typeface="+mj-lt"/>
              </a:rPr>
              <a:t> </a:t>
            </a:r>
            <a:r>
              <a:rPr lang="ro-RO" dirty="0" err="1">
                <a:solidFill>
                  <a:schemeClr val="bg1"/>
                </a:solidFill>
                <a:latin typeface="+mj-lt"/>
              </a:rPr>
              <a:t>once</a:t>
            </a:r>
            <a:r>
              <a:rPr lang="ro-RO" dirty="0">
                <a:solidFill>
                  <a:schemeClr val="bg1"/>
                </a:solidFill>
                <a:latin typeface="+mj-lt"/>
              </a:rPr>
              <a:t> </a:t>
            </a:r>
            <a:r>
              <a:rPr lang="ro-RO" dirty="0" err="1">
                <a:solidFill>
                  <a:schemeClr val="bg1"/>
                </a:solidFill>
                <a:latin typeface="+mj-lt"/>
              </a:rPr>
              <a:t>released</a:t>
            </a:r>
            <a:r>
              <a:rPr lang="ro-RO" dirty="0">
                <a:solidFill>
                  <a:schemeClr val="bg1"/>
                </a:solidFill>
                <a:latin typeface="+mj-lt"/>
              </a:rPr>
              <a:t>.</a:t>
            </a:r>
          </a:p>
          <a:p>
            <a:pPr algn="just"/>
            <a:r>
              <a:rPr lang="ro-RO" dirty="0">
                <a:solidFill>
                  <a:schemeClr val="bg1"/>
                </a:solidFill>
                <a:latin typeface="+mj-lt"/>
              </a:rPr>
              <a:t> </a:t>
            </a:r>
          </a:p>
        </p:txBody>
      </p:sp>
      <p:pic>
        <p:nvPicPr>
          <p:cNvPr id="15" name="Imagine 14">
            <a:extLst>
              <a:ext uri="{FF2B5EF4-FFF2-40B4-BE49-F238E27FC236}">
                <a16:creationId xmlns:a16="http://schemas.microsoft.com/office/drawing/2014/main" id="{8F76C614-228C-4575-995D-5D82912623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73755" y="2638769"/>
            <a:ext cx="4388215" cy="3046115"/>
          </a:xfrm>
          <a:prstGeom prst="rect">
            <a:avLst/>
          </a:prstGeom>
        </p:spPr>
      </p:pic>
    </p:spTree>
    <p:extLst>
      <p:ext uri="{BB962C8B-B14F-4D97-AF65-F5344CB8AC3E}">
        <p14:creationId xmlns:p14="http://schemas.microsoft.com/office/powerpoint/2010/main" val="37074401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3">
            <a:lumMod val="50000"/>
          </a:schemeClr>
        </a:solidFill>
        <a:effectLst/>
      </p:bgPr>
    </p:bg>
    <p:spTree>
      <p:nvGrpSpPr>
        <p:cNvPr id="1" name=""/>
        <p:cNvGrpSpPr/>
        <p:nvPr/>
      </p:nvGrpSpPr>
      <p:grpSpPr>
        <a:xfrm>
          <a:off x="0" y="0"/>
          <a:ext cx="0" cy="0"/>
          <a:chOff x="0" y="0"/>
          <a:chExt cx="0" cy="0"/>
        </a:xfrm>
      </p:grpSpPr>
      <p:sp>
        <p:nvSpPr>
          <p:cNvPr id="7" name="Title 6" hidden="1">
            <a:extLst>
              <a:ext uri="{FF2B5EF4-FFF2-40B4-BE49-F238E27FC236}">
                <a16:creationId xmlns:a16="http://schemas.microsoft.com/office/drawing/2014/main" id="{ED2F5393-91A3-4102-A584-E902285C507A}"/>
              </a:ext>
            </a:extLst>
          </p:cNvPr>
          <p:cNvSpPr>
            <a:spLocks noGrp="1"/>
          </p:cNvSpPr>
          <p:nvPr>
            <p:ph type="title" idx="4294967295"/>
          </p:nvPr>
        </p:nvSpPr>
        <p:spPr>
          <a:xfrm>
            <a:off x="0" y="365125"/>
            <a:ext cx="10515600" cy="1325563"/>
          </a:xfrm>
        </p:spPr>
        <p:txBody>
          <a:bodyPr/>
          <a:lstStyle/>
          <a:p>
            <a:r>
              <a:rPr lang="en-US" dirty="0"/>
              <a:t>Project analysis slide 4</a:t>
            </a: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75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228600" y="159239"/>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o-RO" sz="2800" b="1" dirty="0">
                <a:solidFill>
                  <a:schemeClr val="bg1"/>
                </a:solidFill>
              </a:rPr>
              <a:t>Central </a:t>
            </a:r>
            <a:r>
              <a:rPr lang="ro-RO" sz="2800" b="1" dirty="0" err="1">
                <a:solidFill>
                  <a:schemeClr val="bg1"/>
                </a:solidFill>
              </a:rPr>
              <a:t>Door</a:t>
            </a:r>
            <a:r>
              <a:rPr lang="ro-RO" sz="2800" b="1" dirty="0">
                <a:solidFill>
                  <a:schemeClr val="bg1"/>
                </a:solidFill>
              </a:rPr>
              <a:t> </a:t>
            </a:r>
            <a:r>
              <a:rPr lang="ro-RO" sz="2800" b="1" dirty="0" err="1">
                <a:solidFill>
                  <a:schemeClr val="bg1"/>
                </a:solidFill>
              </a:rPr>
              <a:t>Locking</a:t>
            </a:r>
            <a:br>
              <a:rPr lang="en-US" sz="2800" dirty="0">
                <a:solidFill>
                  <a:schemeClr val="tx1">
                    <a:lumMod val="75000"/>
                    <a:lumOff val="25000"/>
                  </a:schemeClr>
                </a:solidFill>
              </a:rPr>
            </a:b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75000"/>
              </a:schemeClr>
            </a:solidFill>
            <a:tailEnd type="oval"/>
          </a:ln>
        </p:spPr>
        <p:style>
          <a:lnRef idx="1">
            <a:schemeClr val="accent1"/>
          </a:lnRef>
          <a:fillRef idx="0">
            <a:schemeClr val="accent1"/>
          </a:fillRef>
          <a:effectRef idx="0">
            <a:schemeClr val="accent1"/>
          </a:effectRef>
          <a:fontRef idx="minor">
            <a:schemeClr val="tx1"/>
          </a:fontRef>
        </p:style>
      </p:cxnSp>
      <p:sp>
        <p:nvSpPr>
          <p:cNvPr id="4" name="CasetăText 3">
            <a:extLst>
              <a:ext uri="{FF2B5EF4-FFF2-40B4-BE49-F238E27FC236}">
                <a16:creationId xmlns:a16="http://schemas.microsoft.com/office/drawing/2014/main" id="{015A30EA-C0B3-473C-ADCD-7AE9547E4BE0}"/>
              </a:ext>
            </a:extLst>
          </p:cNvPr>
          <p:cNvSpPr txBox="1"/>
          <p:nvPr/>
        </p:nvSpPr>
        <p:spPr>
          <a:xfrm>
            <a:off x="1539416" y="1578356"/>
            <a:ext cx="9596115" cy="1200329"/>
          </a:xfrm>
          <a:prstGeom prst="rect">
            <a:avLst/>
          </a:prstGeom>
          <a:noFill/>
        </p:spPr>
        <p:txBody>
          <a:bodyPr wrap="square" rtlCol="0">
            <a:spAutoFit/>
          </a:bodyPr>
          <a:lstStyle/>
          <a:p>
            <a:pPr algn="ctr"/>
            <a:r>
              <a:rPr lang="ro-RO" sz="3600" b="1" dirty="0" err="1">
                <a:solidFill>
                  <a:schemeClr val="bg1"/>
                </a:solidFill>
                <a:latin typeface="+mj-lt"/>
              </a:rPr>
              <a:t>updateModeOnLCD</a:t>
            </a:r>
            <a:r>
              <a:rPr lang="ro-RO" sz="3600" b="1" dirty="0">
                <a:solidFill>
                  <a:schemeClr val="bg1"/>
                </a:solidFill>
                <a:latin typeface="+mj-lt"/>
              </a:rPr>
              <a:t>(mode) &amp; </a:t>
            </a:r>
            <a:r>
              <a:rPr lang="ro-RO" sz="3600" b="1" dirty="0" err="1">
                <a:solidFill>
                  <a:schemeClr val="bg1"/>
                </a:solidFill>
                <a:latin typeface="+mj-lt"/>
              </a:rPr>
              <a:t>updateButtonStateOnLCD</a:t>
            </a:r>
            <a:r>
              <a:rPr lang="ro-RO" sz="3600" b="1" dirty="0">
                <a:solidFill>
                  <a:schemeClr val="bg1"/>
                </a:solidFill>
                <a:latin typeface="+mj-lt"/>
              </a:rPr>
              <a:t>()</a:t>
            </a:r>
          </a:p>
        </p:txBody>
      </p:sp>
      <p:sp>
        <p:nvSpPr>
          <p:cNvPr id="5" name="CasetăText 4">
            <a:extLst>
              <a:ext uri="{FF2B5EF4-FFF2-40B4-BE49-F238E27FC236}">
                <a16:creationId xmlns:a16="http://schemas.microsoft.com/office/drawing/2014/main" id="{A8DD63FF-376B-472A-BD4A-441D7DE03B95}"/>
              </a:ext>
            </a:extLst>
          </p:cNvPr>
          <p:cNvSpPr txBox="1"/>
          <p:nvPr/>
        </p:nvSpPr>
        <p:spPr>
          <a:xfrm>
            <a:off x="830660" y="3367259"/>
            <a:ext cx="6511130" cy="1200329"/>
          </a:xfrm>
          <a:prstGeom prst="rect">
            <a:avLst/>
          </a:prstGeom>
          <a:noFill/>
        </p:spPr>
        <p:txBody>
          <a:bodyPr wrap="square" rtlCol="0">
            <a:spAutoFit/>
          </a:bodyPr>
          <a:lstStyle/>
          <a:p>
            <a:r>
              <a:rPr lang="ro-RO" dirty="0" err="1">
                <a:solidFill>
                  <a:schemeClr val="bg1"/>
                </a:solidFill>
                <a:latin typeface="+mj-lt"/>
              </a:rPr>
              <a:t>Explanation</a:t>
            </a:r>
            <a:endParaRPr lang="ro-RO" dirty="0">
              <a:solidFill>
                <a:schemeClr val="bg1"/>
              </a:solidFill>
              <a:latin typeface="+mj-lt"/>
            </a:endParaRPr>
          </a:p>
          <a:p>
            <a:r>
              <a:rPr lang="ro-RO" dirty="0" err="1">
                <a:solidFill>
                  <a:schemeClr val="bg1"/>
                </a:solidFill>
                <a:latin typeface="+mj-lt"/>
              </a:rPr>
              <a:t>These</a:t>
            </a:r>
            <a:r>
              <a:rPr lang="ro-RO" dirty="0">
                <a:solidFill>
                  <a:schemeClr val="bg1"/>
                </a:solidFill>
                <a:latin typeface="+mj-lt"/>
              </a:rPr>
              <a:t> </a:t>
            </a:r>
            <a:r>
              <a:rPr lang="ro-RO" dirty="0" err="1">
                <a:solidFill>
                  <a:schemeClr val="bg1"/>
                </a:solidFill>
                <a:latin typeface="+mj-lt"/>
              </a:rPr>
              <a:t>functions</a:t>
            </a:r>
            <a:r>
              <a:rPr lang="ro-RO" dirty="0">
                <a:solidFill>
                  <a:schemeClr val="bg1"/>
                </a:solidFill>
                <a:latin typeface="+mj-lt"/>
              </a:rPr>
              <a:t> print on LCD </a:t>
            </a:r>
            <a:r>
              <a:rPr lang="ro-RO" dirty="0" err="1">
                <a:solidFill>
                  <a:schemeClr val="bg1"/>
                </a:solidFill>
                <a:latin typeface="+mj-lt"/>
              </a:rPr>
              <a:t>the</a:t>
            </a:r>
            <a:r>
              <a:rPr lang="ro-RO" dirty="0">
                <a:solidFill>
                  <a:schemeClr val="bg1"/>
                </a:solidFill>
                <a:latin typeface="+mj-lt"/>
              </a:rPr>
              <a:t> </a:t>
            </a:r>
            <a:r>
              <a:rPr lang="ro-RO" dirty="0" err="1">
                <a:solidFill>
                  <a:schemeClr val="bg1"/>
                </a:solidFill>
                <a:latin typeface="+mj-lt"/>
              </a:rPr>
              <a:t>current</a:t>
            </a:r>
            <a:r>
              <a:rPr lang="ro-RO" dirty="0">
                <a:solidFill>
                  <a:schemeClr val="bg1"/>
                </a:solidFill>
                <a:latin typeface="+mj-lt"/>
              </a:rPr>
              <a:t> mode of </a:t>
            </a:r>
            <a:r>
              <a:rPr lang="ro-RO" dirty="0" err="1">
                <a:solidFill>
                  <a:schemeClr val="bg1"/>
                </a:solidFill>
                <a:latin typeface="+mj-lt"/>
              </a:rPr>
              <a:t>system</a:t>
            </a:r>
            <a:r>
              <a:rPr lang="ro-RO" dirty="0">
                <a:solidFill>
                  <a:schemeClr val="bg1"/>
                </a:solidFill>
                <a:latin typeface="+mj-lt"/>
              </a:rPr>
              <a:t> </a:t>
            </a:r>
            <a:r>
              <a:rPr lang="ro-RO" dirty="0" err="1">
                <a:solidFill>
                  <a:schemeClr val="bg1"/>
                </a:solidFill>
                <a:latin typeface="+mj-lt"/>
              </a:rPr>
              <a:t>and</a:t>
            </a:r>
            <a:r>
              <a:rPr lang="ro-RO" dirty="0">
                <a:solidFill>
                  <a:schemeClr val="bg1"/>
                </a:solidFill>
                <a:latin typeface="+mj-lt"/>
              </a:rPr>
              <a:t> </a:t>
            </a:r>
            <a:r>
              <a:rPr lang="ro-RO" dirty="0" err="1">
                <a:solidFill>
                  <a:schemeClr val="bg1"/>
                </a:solidFill>
                <a:latin typeface="+mj-lt"/>
              </a:rPr>
              <a:t>the</a:t>
            </a:r>
            <a:r>
              <a:rPr lang="ro-RO" dirty="0">
                <a:solidFill>
                  <a:schemeClr val="bg1"/>
                </a:solidFill>
                <a:latin typeface="+mj-lt"/>
              </a:rPr>
              <a:t> </a:t>
            </a:r>
            <a:r>
              <a:rPr lang="ro-RO" dirty="0" err="1">
                <a:solidFill>
                  <a:schemeClr val="bg1"/>
                </a:solidFill>
                <a:latin typeface="+mj-lt"/>
              </a:rPr>
              <a:t>current</a:t>
            </a:r>
            <a:r>
              <a:rPr lang="ro-RO" dirty="0">
                <a:solidFill>
                  <a:schemeClr val="bg1"/>
                </a:solidFill>
                <a:latin typeface="+mj-lt"/>
              </a:rPr>
              <a:t> state of </a:t>
            </a:r>
            <a:r>
              <a:rPr lang="ro-RO" dirty="0" err="1">
                <a:solidFill>
                  <a:schemeClr val="bg1"/>
                </a:solidFill>
                <a:latin typeface="+mj-lt"/>
              </a:rPr>
              <a:t>pushbutton</a:t>
            </a:r>
            <a:r>
              <a:rPr lang="ro-RO" dirty="0">
                <a:solidFill>
                  <a:schemeClr val="bg1"/>
                </a:solidFill>
                <a:latin typeface="+mj-lt"/>
              </a:rPr>
              <a:t>.</a:t>
            </a:r>
          </a:p>
          <a:p>
            <a:endParaRPr lang="ro-RO" dirty="0">
              <a:solidFill>
                <a:schemeClr val="bg1"/>
              </a:solidFill>
              <a:latin typeface="+mj-lt"/>
            </a:endParaRPr>
          </a:p>
        </p:txBody>
      </p:sp>
      <p:pic>
        <p:nvPicPr>
          <p:cNvPr id="13" name="Imagine 12">
            <a:extLst>
              <a:ext uri="{FF2B5EF4-FFF2-40B4-BE49-F238E27FC236}">
                <a16:creationId xmlns:a16="http://schemas.microsoft.com/office/drawing/2014/main" id="{05829381-FF53-4220-95D9-E54AACECDC12}"/>
              </a:ext>
            </a:extLst>
          </p:cNvPr>
          <p:cNvPicPr>
            <a:picLocks noChangeAspect="1"/>
          </p:cNvPicPr>
          <p:nvPr/>
        </p:nvPicPr>
        <p:blipFill>
          <a:blip r:embed="rId3"/>
          <a:stretch>
            <a:fillRect/>
          </a:stretch>
        </p:blipFill>
        <p:spPr>
          <a:xfrm>
            <a:off x="7754620" y="3034407"/>
            <a:ext cx="3380911" cy="3084440"/>
          </a:xfrm>
          <a:prstGeom prst="rect">
            <a:avLst/>
          </a:prstGeom>
        </p:spPr>
      </p:pic>
    </p:spTree>
    <p:extLst>
      <p:ext uri="{BB962C8B-B14F-4D97-AF65-F5344CB8AC3E}">
        <p14:creationId xmlns:p14="http://schemas.microsoft.com/office/powerpoint/2010/main" val="4102618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3">
            <a:lumMod val="50000"/>
          </a:schemeClr>
        </a:solidFill>
        <a:effectLst/>
      </p:bgPr>
    </p:bg>
    <p:spTree>
      <p:nvGrpSpPr>
        <p:cNvPr id="1" name=""/>
        <p:cNvGrpSpPr/>
        <p:nvPr/>
      </p:nvGrpSpPr>
      <p:grpSpPr>
        <a:xfrm>
          <a:off x="0" y="0"/>
          <a:ext cx="0" cy="0"/>
          <a:chOff x="0" y="0"/>
          <a:chExt cx="0" cy="0"/>
        </a:xfrm>
      </p:grpSpPr>
      <p:sp>
        <p:nvSpPr>
          <p:cNvPr id="7" name="Title 6" hidden="1">
            <a:extLst>
              <a:ext uri="{FF2B5EF4-FFF2-40B4-BE49-F238E27FC236}">
                <a16:creationId xmlns:a16="http://schemas.microsoft.com/office/drawing/2014/main" id="{ED2F5393-91A3-4102-A584-E902285C507A}"/>
              </a:ext>
            </a:extLst>
          </p:cNvPr>
          <p:cNvSpPr>
            <a:spLocks noGrp="1"/>
          </p:cNvSpPr>
          <p:nvPr>
            <p:ph type="title" idx="4294967295"/>
          </p:nvPr>
        </p:nvSpPr>
        <p:spPr>
          <a:xfrm>
            <a:off x="0" y="365125"/>
            <a:ext cx="10515600" cy="1325563"/>
          </a:xfrm>
        </p:spPr>
        <p:txBody>
          <a:bodyPr/>
          <a:lstStyle/>
          <a:p>
            <a:r>
              <a:rPr lang="en-US" dirty="0"/>
              <a:t>Project analysis slide 4</a:t>
            </a: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75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228600" y="159239"/>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o-RO" sz="2800" b="1" dirty="0">
                <a:solidFill>
                  <a:schemeClr val="bg1"/>
                </a:solidFill>
              </a:rPr>
              <a:t>Central </a:t>
            </a:r>
            <a:r>
              <a:rPr lang="ro-RO" sz="2800" b="1" dirty="0" err="1">
                <a:solidFill>
                  <a:schemeClr val="bg1"/>
                </a:solidFill>
              </a:rPr>
              <a:t>Door</a:t>
            </a:r>
            <a:r>
              <a:rPr lang="ro-RO" sz="2800" b="1" dirty="0">
                <a:solidFill>
                  <a:schemeClr val="bg1"/>
                </a:solidFill>
              </a:rPr>
              <a:t> </a:t>
            </a:r>
            <a:r>
              <a:rPr lang="ro-RO" sz="2800" b="1" dirty="0" err="1">
                <a:solidFill>
                  <a:schemeClr val="bg1"/>
                </a:solidFill>
              </a:rPr>
              <a:t>Locking</a:t>
            </a:r>
            <a:br>
              <a:rPr lang="en-US" sz="2800" dirty="0">
                <a:solidFill>
                  <a:schemeClr val="tx1">
                    <a:lumMod val="75000"/>
                    <a:lumOff val="25000"/>
                  </a:schemeClr>
                </a:solidFill>
              </a:rPr>
            </a:b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75000"/>
              </a:schemeClr>
            </a:solidFill>
            <a:tailEnd type="oval"/>
          </a:ln>
        </p:spPr>
        <p:style>
          <a:lnRef idx="1">
            <a:schemeClr val="accent1"/>
          </a:lnRef>
          <a:fillRef idx="0">
            <a:schemeClr val="accent1"/>
          </a:fillRef>
          <a:effectRef idx="0">
            <a:schemeClr val="accent1"/>
          </a:effectRef>
          <a:fontRef idx="minor">
            <a:schemeClr val="tx1"/>
          </a:fontRef>
        </p:style>
      </p:cxnSp>
      <p:sp>
        <p:nvSpPr>
          <p:cNvPr id="4" name="CasetăText 3">
            <a:extLst>
              <a:ext uri="{FF2B5EF4-FFF2-40B4-BE49-F238E27FC236}">
                <a16:creationId xmlns:a16="http://schemas.microsoft.com/office/drawing/2014/main" id="{015A30EA-C0B3-473C-ADCD-7AE9547E4BE0}"/>
              </a:ext>
            </a:extLst>
          </p:cNvPr>
          <p:cNvSpPr txBox="1"/>
          <p:nvPr/>
        </p:nvSpPr>
        <p:spPr>
          <a:xfrm>
            <a:off x="1539416" y="1578356"/>
            <a:ext cx="9596115" cy="646331"/>
          </a:xfrm>
          <a:prstGeom prst="rect">
            <a:avLst/>
          </a:prstGeom>
          <a:noFill/>
        </p:spPr>
        <p:txBody>
          <a:bodyPr wrap="square" rtlCol="0">
            <a:spAutoFit/>
          </a:bodyPr>
          <a:lstStyle/>
          <a:p>
            <a:pPr algn="ctr"/>
            <a:r>
              <a:rPr lang="ro-RO" sz="3600" b="1" dirty="0" err="1">
                <a:solidFill>
                  <a:schemeClr val="bg1"/>
                </a:solidFill>
                <a:latin typeface="+mj-lt"/>
              </a:rPr>
              <a:t>startBlinking</a:t>
            </a:r>
            <a:r>
              <a:rPr lang="ro-RO" sz="3600" b="1" dirty="0">
                <a:solidFill>
                  <a:schemeClr val="bg1"/>
                </a:solidFill>
                <a:latin typeface="+mj-lt"/>
              </a:rPr>
              <a:t>(</a:t>
            </a:r>
            <a:r>
              <a:rPr lang="ro-RO" sz="3600" b="1" dirty="0" err="1">
                <a:solidFill>
                  <a:schemeClr val="bg1"/>
                </a:solidFill>
                <a:latin typeface="+mj-lt"/>
              </a:rPr>
              <a:t>times</a:t>
            </a:r>
            <a:r>
              <a:rPr lang="ro-RO" sz="3600" b="1" dirty="0">
                <a:solidFill>
                  <a:schemeClr val="bg1"/>
                </a:solidFill>
                <a:latin typeface="+mj-lt"/>
              </a:rPr>
              <a:t>) &amp; </a:t>
            </a:r>
            <a:r>
              <a:rPr lang="ro-RO" sz="3600" b="1" dirty="0" err="1">
                <a:solidFill>
                  <a:schemeClr val="bg1"/>
                </a:solidFill>
                <a:latin typeface="+mj-lt"/>
              </a:rPr>
              <a:t>updateBlinking</a:t>
            </a:r>
            <a:r>
              <a:rPr lang="ro-RO" sz="3600" b="1" dirty="0">
                <a:solidFill>
                  <a:schemeClr val="bg1"/>
                </a:solidFill>
                <a:latin typeface="+mj-lt"/>
              </a:rPr>
              <a:t>()</a:t>
            </a:r>
          </a:p>
        </p:txBody>
      </p:sp>
      <p:sp>
        <p:nvSpPr>
          <p:cNvPr id="5" name="CasetăText 4">
            <a:extLst>
              <a:ext uri="{FF2B5EF4-FFF2-40B4-BE49-F238E27FC236}">
                <a16:creationId xmlns:a16="http://schemas.microsoft.com/office/drawing/2014/main" id="{A8DD63FF-376B-472A-BD4A-441D7DE03B95}"/>
              </a:ext>
            </a:extLst>
          </p:cNvPr>
          <p:cNvSpPr txBox="1"/>
          <p:nvPr/>
        </p:nvSpPr>
        <p:spPr>
          <a:xfrm>
            <a:off x="830659" y="3367259"/>
            <a:ext cx="7797525" cy="1477328"/>
          </a:xfrm>
          <a:prstGeom prst="rect">
            <a:avLst/>
          </a:prstGeom>
          <a:noFill/>
        </p:spPr>
        <p:txBody>
          <a:bodyPr wrap="square" rtlCol="0">
            <a:spAutoFit/>
          </a:bodyPr>
          <a:lstStyle/>
          <a:p>
            <a:r>
              <a:rPr lang="ro-RO" dirty="0" err="1">
                <a:solidFill>
                  <a:schemeClr val="bg1"/>
                </a:solidFill>
                <a:latin typeface="+mj-lt"/>
              </a:rPr>
              <a:t>Explanation</a:t>
            </a:r>
            <a:endParaRPr lang="ro-RO" dirty="0">
              <a:solidFill>
                <a:schemeClr val="bg1"/>
              </a:solidFill>
              <a:latin typeface="+mj-lt"/>
            </a:endParaRPr>
          </a:p>
          <a:p>
            <a:r>
              <a:rPr lang="ro-RO" dirty="0" err="1">
                <a:solidFill>
                  <a:schemeClr val="bg1"/>
                </a:solidFill>
                <a:latin typeface="+mj-lt"/>
              </a:rPr>
              <a:t>startBlinking</a:t>
            </a:r>
            <a:r>
              <a:rPr lang="ro-RO" dirty="0">
                <a:solidFill>
                  <a:schemeClr val="bg1"/>
                </a:solidFill>
                <a:latin typeface="+mj-lt"/>
              </a:rPr>
              <a:t>(</a:t>
            </a:r>
            <a:r>
              <a:rPr lang="ro-RO" dirty="0" err="1">
                <a:solidFill>
                  <a:schemeClr val="bg1"/>
                </a:solidFill>
                <a:latin typeface="+mj-lt"/>
              </a:rPr>
              <a:t>times</a:t>
            </a:r>
            <a:r>
              <a:rPr lang="ro-RO" dirty="0">
                <a:solidFill>
                  <a:schemeClr val="bg1"/>
                </a:solidFill>
                <a:latin typeface="+mj-lt"/>
              </a:rPr>
              <a:t>) </a:t>
            </a:r>
            <a:r>
              <a:rPr lang="ro-RO" dirty="0" err="1">
                <a:solidFill>
                  <a:schemeClr val="bg1"/>
                </a:solidFill>
                <a:latin typeface="+mj-lt"/>
              </a:rPr>
              <a:t>starts</a:t>
            </a:r>
            <a:r>
              <a:rPr lang="ro-RO" dirty="0">
                <a:solidFill>
                  <a:schemeClr val="bg1"/>
                </a:solidFill>
                <a:latin typeface="+mj-lt"/>
              </a:rPr>
              <a:t> </a:t>
            </a:r>
            <a:r>
              <a:rPr lang="ro-RO" dirty="0" err="1">
                <a:solidFill>
                  <a:schemeClr val="bg1"/>
                </a:solidFill>
                <a:latin typeface="+mj-lt"/>
              </a:rPr>
              <a:t>the</a:t>
            </a:r>
            <a:r>
              <a:rPr lang="ro-RO" dirty="0">
                <a:solidFill>
                  <a:schemeClr val="bg1"/>
                </a:solidFill>
                <a:latin typeface="+mj-lt"/>
              </a:rPr>
              <a:t> LED </a:t>
            </a:r>
            <a:r>
              <a:rPr lang="ro-RO" dirty="0" err="1">
                <a:solidFill>
                  <a:schemeClr val="bg1"/>
                </a:solidFill>
                <a:latin typeface="+mj-lt"/>
              </a:rPr>
              <a:t>blinking</a:t>
            </a:r>
            <a:r>
              <a:rPr lang="ro-RO" dirty="0">
                <a:solidFill>
                  <a:schemeClr val="bg1"/>
                </a:solidFill>
                <a:latin typeface="+mj-lt"/>
              </a:rPr>
              <a:t> </a:t>
            </a:r>
            <a:r>
              <a:rPr lang="ro-RO" dirty="0" err="1">
                <a:solidFill>
                  <a:schemeClr val="bg1"/>
                </a:solidFill>
                <a:latin typeface="+mj-lt"/>
              </a:rPr>
              <a:t>process</a:t>
            </a:r>
            <a:r>
              <a:rPr lang="ro-RO" dirty="0">
                <a:solidFill>
                  <a:schemeClr val="bg1"/>
                </a:solidFill>
                <a:latin typeface="+mj-lt"/>
              </a:rPr>
              <a:t> </a:t>
            </a:r>
            <a:r>
              <a:rPr lang="ro-RO" dirty="0" err="1">
                <a:solidFill>
                  <a:schemeClr val="bg1"/>
                </a:solidFill>
                <a:latin typeface="+mj-lt"/>
              </a:rPr>
              <a:t>by</a:t>
            </a:r>
            <a:r>
              <a:rPr lang="ro-RO" dirty="0">
                <a:solidFill>
                  <a:schemeClr val="bg1"/>
                </a:solidFill>
                <a:latin typeface="+mj-lt"/>
              </a:rPr>
              <a:t> </a:t>
            </a:r>
            <a:r>
              <a:rPr lang="ro-RO" dirty="0" err="1">
                <a:solidFill>
                  <a:schemeClr val="bg1"/>
                </a:solidFill>
                <a:latin typeface="+mj-lt"/>
              </a:rPr>
              <a:t>setting</a:t>
            </a:r>
            <a:r>
              <a:rPr lang="ro-RO" dirty="0">
                <a:solidFill>
                  <a:schemeClr val="bg1"/>
                </a:solidFill>
                <a:latin typeface="+mj-lt"/>
              </a:rPr>
              <a:t> </a:t>
            </a:r>
            <a:r>
              <a:rPr lang="ro-RO" dirty="0" err="1">
                <a:solidFill>
                  <a:schemeClr val="bg1"/>
                </a:solidFill>
                <a:latin typeface="+mj-lt"/>
              </a:rPr>
              <a:t>how</a:t>
            </a:r>
            <a:r>
              <a:rPr lang="ro-RO" dirty="0">
                <a:solidFill>
                  <a:schemeClr val="bg1"/>
                </a:solidFill>
                <a:latin typeface="+mj-lt"/>
              </a:rPr>
              <a:t> </a:t>
            </a:r>
            <a:r>
              <a:rPr lang="ro-RO" dirty="0" err="1">
                <a:solidFill>
                  <a:schemeClr val="bg1"/>
                </a:solidFill>
                <a:latin typeface="+mj-lt"/>
              </a:rPr>
              <a:t>many</a:t>
            </a:r>
            <a:r>
              <a:rPr lang="ro-RO" dirty="0">
                <a:solidFill>
                  <a:schemeClr val="bg1"/>
                </a:solidFill>
                <a:latin typeface="+mj-lt"/>
              </a:rPr>
              <a:t> </a:t>
            </a:r>
            <a:r>
              <a:rPr lang="ro-RO" dirty="0" err="1">
                <a:solidFill>
                  <a:schemeClr val="bg1"/>
                </a:solidFill>
                <a:latin typeface="+mj-lt"/>
              </a:rPr>
              <a:t>times</a:t>
            </a:r>
            <a:r>
              <a:rPr lang="ro-RO" dirty="0">
                <a:solidFill>
                  <a:schemeClr val="bg1"/>
                </a:solidFill>
                <a:latin typeface="+mj-lt"/>
              </a:rPr>
              <a:t> </a:t>
            </a:r>
            <a:r>
              <a:rPr lang="ro-RO" dirty="0" err="1">
                <a:solidFill>
                  <a:schemeClr val="bg1"/>
                </a:solidFill>
                <a:latin typeface="+mj-lt"/>
              </a:rPr>
              <a:t>the</a:t>
            </a:r>
            <a:r>
              <a:rPr lang="ro-RO" dirty="0">
                <a:solidFill>
                  <a:schemeClr val="bg1"/>
                </a:solidFill>
                <a:latin typeface="+mj-lt"/>
              </a:rPr>
              <a:t> </a:t>
            </a:r>
            <a:r>
              <a:rPr lang="ro-RO" dirty="0" err="1">
                <a:solidFill>
                  <a:schemeClr val="bg1"/>
                </a:solidFill>
                <a:latin typeface="+mj-lt"/>
              </a:rPr>
              <a:t>LEDs</a:t>
            </a:r>
            <a:r>
              <a:rPr lang="ro-RO" dirty="0">
                <a:solidFill>
                  <a:schemeClr val="bg1"/>
                </a:solidFill>
                <a:latin typeface="+mj-lt"/>
              </a:rPr>
              <a:t> </a:t>
            </a:r>
            <a:r>
              <a:rPr lang="ro-RO" dirty="0" err="1">
                <a:solidFill>
                  <a:schemeClr val="bg1"/>
                </a:solidFill>
                <a:latin typeface="+mj-lt"/>
              </a:rPr>
              <a:t>will</a:t>
            </a:r>
            <a:r>
              <a:rPr lang="ro-RO" dirty="0">
                <a:solidFill>
                  <a:schemeClr val="bg1"/>
                </a:solidFill>
                <a:latin typeface="+mj-lt"/>
              </a:rPr>
              <a:t> </a:t>
            </a:r>
            <a:r>
              <a:rPr lang="ro-RO" dirty="0" err="1">
                <a:solidFill>
                  <a:schemeClr val="bg1"/>
                </a:solidFill>
                <a:latin typeface="+mj-lt"/>
              </a:rPr>
              <a:t>blink</a:t>
            </a:r>
            <a:r>
              <a:rPr lang="ro-RO" dirty="0">
                <a:solidFill>
                  <a:schemeClr val="bg1"/>
                </a:solidFill>
                <a:latin typeface="+mj-lt"/>
              </a:rPr>
              <a:t>.</a:t>
            </a:r>
          </a:p>
          <a:p>
            <a:r>
              <a:rPr lang="ro-RO" dirty="0" err="1">
                <a:solidFill>
                  <a:schemeClr val="bg1"/>
                </a:solidFill>
                <a:latin typeface="+mj-lt"/>
              </a:rPr>
              <a:t>updateBlinking</a:t>
            </a:r>
            <a:r>
              <a:rPr lang="ro-RO" dirty="0">
                <a:solidFill>
                  <a:schemeClr val="bg1"/>
                </a:solidFill>
                <a:latin typeface="+mj-lt"/>
              </a:rPr>
              <a:t>() </a:t>
            </a:r>
            <a:r>
              <a:rPr lang="ro-RO" dirty="0" err="1">
                <a:solidFill>
                  <a:schemeClr val="bg1"/>
                </a:solidFill>
                <a:latin typeface="+mj-lt"/>
              </a:rPr>
              <a:t>controls</a:t>
            </a:r>
            <a:r>
              <a:rPr lang="ro-RO" dirty="0">
                <a:solidFill>
                  <a:schemeClr val="bg1"/>
                </a:solidFill>
                <a:latin typeface="+mj-lt"/>
              </a:rPr>
              <a:t> </a:t>
            </a:r>
            <a:r>
              <a:rPr lang="ro-RO" dirty="0" err="1">
                <a:solidFill>
                  <a:schemeClr val="bg1"/>
                </a:solidFill>
                <a:latin typeface="+mj-lt"/>
              </a:rPr>
              <a:t>the</a:t>
            </a:r>
            <a:r>
              <a:rPr lang="ro-RO" dirty="0">
                <a:solidFill>
                  <a:schemeClr val="bg1"/>
                </a:solidFill>
                <a:latin typeface="+mj-lt"/>
              </a:rPr>
              <a:t> </a:t>
            </a:r>
            <a:r>
              <a:rPr lang="ro-RO" dirty="0" err="1">
                <a:solidFill>
                  <a:schemeClr val="bg1"/>
                </a:solidFill>
                <a:latin typeface="+mj-lt"/>
              </a:rPr>
              <a:t>blinking</a:t>
            </a:r>
            <a:r>
              <a:rPr lang="ro-RO" dirty="0">
                <a:solidFill>
                  <a:schemeClr val="bg1"/>
                </a:solidFill>
                <a:latin typeface="+mj-lt"/>
              </a:rPr>
              <a:t> </a:t>
            </a:r>
            <a:r>
              <a:rPr lang="ro-RO" dirty="0" err="1">
                <a:solidFill>
                  <a:schemeClr val="bg1"/>
                </a:solidFill>
                <a:latin typeface="+mj-lt"/>
              </a:rPr>
              <a:t>duration</a:t>
            </a:r>
            <a:r>
              <a:rPr lang="ro-RO" dirty="0">
                <a:solidFill>
                  <a:schemeClr val="bg1"/>
                </a:solidFill>
                <a:latin typeface="+mj-lt"/>
              </a:rPr>
              <a:t> </a:t>
            </a:r>
            <a:r>
              <a:rPr lang="ro-RO" dirty="0" err="1">
                <a:solidFill>
                  <a:schemeClr val="bg1"/>
                </a:solidFill>
                <a:latin typeface="+mj-lt"/>
              </a:rPr>
              <a:t>LEDs</a:t>
            </a:r>
            <a:r>
              <a:rPr lang="ro-RO" dirty="0">
                <a:solidFill>
                  <a:schemeClr val="bg1"/>
                </a:solidFill>
                <a:latin typeface="+mj-lt"/>
              </a:rPr>
              <a:t> </a:t>
            </a:r>
            <a:r>
              <a:rPr lang="ro-RO" dirty="0" err="1">
                <a:solidFill>
                  <a:schemeClr val="bg1"/>
                </a:solidFill>
                <a:latin typeface="+mj-lt"/>
              </a:rPr>
              <a:t>and</a:t>
            </a:r>
            <a:r>
              <a:rPr lang="ro-RO" dirty="0">
                <a:solidFill>
                  <a:schemeClr val="bg1"/>
                </a:solidFill>
                <a:latin typeface="+mj-lt"/>
              </a:rPr>
              <a:t> </a:t>
            </a:r>
            <a:r>
              <a:rPr lang="ro-RO" dirty="0" err="1">
                <a:solidFill>
                  <a:schemeClr val="bg1"/>
                </a:solidFill>
                <a:latin typeface="+mj-lt"/>
              </a:rPr>
              <a:t>stops</a:t>
            </a:r>
            <a:r>
              <a:rPr lang="ro-RO" dirty="0">
                <a:solidFill>
                  <a:schemeClr val="bg1"/>
                </a:solidFill>
                <a:latin typeface="+mj-lt"/>
              </a:rPr>
              <a:t> </a:t>
            </a:r>
            <a:r>
              <a:rPr lang="ro-RO" dirty="0" err="1">
                <a:solidFill>
                  <a:schemeClr val="bg1"/>
                </a:solidFill>
                <a:latin typeface="+mj-lt"/>
              </a:rPr>
              <a:t>when</a:t>
            </a:r>
            <a:r>
              <a:rPr lang="ro-RO" dirty="0">
                <a:solidFill>
                  <a:schemeClr val="bg1"/>
                </a:solidFill>
                <a:latin typeface="+mj-lt"/>
              </a:rPr>
              <a:t> </a:t>
            </a:r>
            <a:r>
              <a:rPr lang="ro-RO" dirty="0" err="1">
                <a:solidFill>
                  <a:schemeClr val="bg1"/>
                </a:solidFill>
                <a:latin typeface="+mj-lt"/>
              </a:rPr>
              <a:t>all</a:t>
            </a:r>
            <a:r>
              <a:rPr lang="ro-RO" dirty="0">
                <a:solidFill>
                  <a:schemeClr val="bg1"/>
                </a:solidFill>
                <a:latin typeface="+mj-lt"/>
              </a:rPr>
              <a:t> </a:t>
            </a:r>
            <a:r>
              <a:rPr lang="ro-RO" dirty="0" err="1">
                <a:solidFill>
                  <a:schemeClr val="bg1"/>
                </a:solidFill>
                <a:latin typeface="+mj-lt"/>
              </a:rPr>
              <a:t>blinks</a:t>
            </a:r>
            <a:r>
              <a:rPr lang="ro-RO" dirty="0">
                <a:solidFill>
                  <a:schemeClr val="bg1"/>
                </a:solidFill>
                <a:latin typeface="+mj-lt"/>
              </a:rPr>
              <a:t> are </a:t>
            </a:r>
            <a:r>
              <a:rPr lang="ro-RO" dirty="0" err="1">
                <a:solidFill>
                  <a:schemeClr val="bg1"/>
                </a:solidFill>
                <a:latin typeface="+mj-lt"/>
              </a:rPr>
              <a:t>completed</a:t>
            </a:r>
            <a:r>
              <a:rPr lang="ro-RO" dirty="0">
                <a:solidFill>
                  <a:schemeClr val="bg1"/>
                </a:solidFill>
                <a:latin typeface="+mj-lt"/>
              </a:rPr>
              <a:t>.</a:t>
            </a:r>
          </a:p>
        </p:txBody>
      </p:sp>
      <p:pic>
        <p:nvPicPr>
          <p:cNvPr id="12" name="Imagine 11">
            <a:extLst>
              <a:ext uri="{FF2B5EF4-FFF2-40B4-BE49-F238E27FC236}">
                <a16:creationId xmlns:a16="http://schemas.microsoft.com/office/drawing/2014/main" id="{2A4A5F03-866A-4E09-A798-F16F8C419A02}"/>
              </a:ext>
            </a:extLst>
          </p:cNvPr>
          <p:cNvPicPr>
            <a:picLocks noChangeAspect="1"/>
          </p:cNvPicPr>
          <p:nvPr/>
        </p:nvPicPr>
        <p:blipFill>
          <a:blip r:embed="rId3"/>
          <a:stretch>
            <a:fillRect/>
          </a:stretch>
        </p:blipFill>
        <p:spPr>
          <a:xfrm>
            <a:off x="8965185" y="2480409"/>
            <a:ext cx="1988492" cy="3413907"/>
          </a:xfrm>
          <a:prstGeom prst="rect">
            <a:avLst/>
          </a:prstGeom>
        </p:spPr>
      </p:pic>
    </p:spTree>
    <p:extLst>
      <p:ext uri="{BB962C8B-B14F-4D97-AF65-F5344CB8AC3E}">
        <p14:creationId xmlns:p14="http://schemas.microsoft.com/office/powerpoint/2010/main" val="41322191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3">
            <a:lumMod val="50000"/>
          </a:schemeClr>
        </a:solidFill>
        <a:effectLst/>
      </p:bgPr>
    </p:bg>
    <p:spTree>
      <p:nvGrpSpPr>
        <p:cNvPr id="1" name=""/>
        <p:cNvGrpSpPr/>
        <p:nvPr/>
      </p:nvGrpSpPr>
      <p:grpSpPr>
        <a:xfrm>
          <a:off x="0" y="0"/>
          <a:ext cx="0" cy="0"/>
          <a:chOff x="0" y="0"/>
          <a:chExt cx="0" cy="0"/>
        </a:xfrm>
      </p:grpSpPr>
      <p:sp>
        <p:nvSpPr>
          <p:cNvPr id="7" name="Title 6" hidden="1">
            <a:extLst>
              <a:ext uri="{FF2B5EF4-FFF2-40B4-BE49-F238E27FC236}">
                <a16:creationId xmlns:a16="http://schemas.microsoft.com/office/drawing/2014/main" id="{ED2F5393-91A3-4102-A584-E902285C507A}"/>
              </a:ext>
            </a:extLst>
          </p:cNvPr>
          <p:cNvSpPr>
            <a:spLocks noGrp="1"/>
          </p:cNvSpPr>
          <p:nvPr>
            <p:ph type="title" idx="4294967295"/>
          </p:nvPr>
        </p:nvSpPr>
        <p:spPr>
          <a:xfrm>
            <a:off x="0" y="365125"/>
            <a:ext cx="10515600" cy="1325563"/>
          </a:xfrm>
        </p:spPr>
        <p:txBody>
          <a:bodyPr/>
          <a:lstStyle/>
          <a:p>
            <a:r>
              <a:rPr lang="en-US" dirty="0"/>
              <a:t>Project analysis slide 4</a:t>
            </a: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75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228600" y="159239"/>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o-RO" sz="2800" b="1" dirty="0">
                <a:solidFill>
                  <a:schemeClr val="bg1"/>
                </a:solidFill>
              </a:rPr>
              <a:t>Central </a:t>
            </a:r>
            <a:r>
              <a:rPr lang="ro-RO" sz="2800" b="1" dirty="0" err="1">
                <a:solidFill>
                  <a:schemeClr val="bg1"/>
                </a:solidFill>
              </a:rPr>
              <a:t>Door</a:t>
            </a:r>
            <a:r>
              <a:rPr lang="ro-RO" sz="2800" b="1" dirty="0">
                <a:solidFill>
                  <a:schemeClr val="bg1"/>
                </a:solidFill>
              </a:rPr>
              <a:t> </a:t>
            </a:r>
            <a:r>
              <a:rPr lang="ro-RO" sz="2800" b="1" dirty="0" err="1">
                <a:solidFill>
                  <a:schemeClr val="bg1"/>
                </a:solidFill>
              </a:rPr>
              <a:t>Locking</a:t>
            </a:r>
            <a:br>
              <a:rPr lang="en-US" sz="2800" dirty="0">
                <a:solidFill>
                  <a:schemeClr val="tx1">
                    <a:lumMod val="75000"/>
                    <a:lumOff val="25000"/>
                  </a:schemeClr>
                </a:solidFill>
              </a:rPr>
            </a:b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75000"/>
              </a:schemeClr>
            </a:solidFill>
            <a:tailEnd type="oval"/>
          </a:ln>
        </p:spPr>
        <p:style>
          <a:lnRef idx="1">
            <a:schemeClr val="accent1"/>
          </a:lnRef>
          <a:fillRef idx="0">
            <a:schemeClr val="accent1"/>
          </a:fillRef>
          <a:effectRef idx="0">
            <a:schemeClr val="accent1"/>
          </a:effectRef>
          <a:fontRef idx="minor">
            <a:schemeClr val="tx1"/>
          </a:fontRef>
        </p:style>
      </p:cxnSp>
      <p:sp>
        <p:nvSpPr>
          <p:cNvPr id="4" name="CasetăText 3">
            <a:extLst>
              <a:ext uri="{FF2B5EF4-FFF2-40B4-BE49-F238E27FC236}">
                <a16:creationId xmlns:a16="http://schemas.microsoft.com/office/drawing/2014/main" id="{015A30EA-C0B3-473C-ADCD-7AE9547E4BE0}"/>
              </a:ext>
            </a:extLst>
          </p:cNvPr>
          <p:cNvSpPr txBox="1"/>
          <p:nvPr/>
        </p:nvSpPr>
        <p:spPr>
          <a:xfrm>
            <a:off x="884008" y="1578356"/>
            <a:ext cx="10423984" cy="646331"/>
          </a:xfrm>
          <a:prstGeom prst="rect">
            <a:avLst/>
          </a:prstGeom>
          <a:noFill/>
        </p:spPr>
        <p:txBody>
          <a:bodyPr wrap="square" rtlCol="0">
            <a:spAutoFit/>
          </a:bodyPr>
          <a:lstStyle/>
          <a:p>
            <a:pPr algn="ctr"/>
            <a:r>
              <a:rPr lang="ro-RO" sz="3600" b="1" dirty="0" err="1">
                <a:solidFill>
                  <a:schemeClr val="bg1"/>
                </a:solidFill>
                <a:latin typeface="+mj-lt"/>
              </a:rPr>
              <a:t>startActionChangeMotors</a:t>
            </a:r>
            <a:r>
              <a:rPr lang="ro-RO" sz="3600" b="1" dirty="0">
                <a:solidFill>
                  <a:schemeClr val="bg1"/>
                </a:solidFill>
                <a:latin typeface="+mj-lt"/>
              </a:rPr>
              <a:t>(</a:t>
            </a:r>
            <a:r>
              <a:rPr lang="ro-RO" sz="3600" b="1" dirty="0" err="1">
                <a:solidFill>
                  <a:schemeClr val="bg1"/>
                </a:solidFill>
                <a:latin typeface="+mj-lt"/>
              </a:rPr>
              <a:t>fromMode,toMode</a:t>
            </a:r>
            <a:r>
              <a:rPr lang="ro-RO" sz="3600" b="1" dirty="0">
                <a:solidFill>
                  <a:schemeClr val="bg1"/>
                </a:solidFill>
                <a:latin typeface="+mj-lt"/>
              </a:rPr>
              <a:t>)</a:t>
            </a:r>
          </a:p>
        </p:txBody>
      </p:sp>
      <p:sp>
        <p:nvSpPr>
          <p:cNvPr id="5" name="CasetăText 4">
            <a:extLst>
              <a:ext uri="{FF2B5EF4-FFF2-40B4-BE49-F238E27FC236}">
                <a16:creationId xmlns:a16="http://schemas.microsoft.com/office/drawing/2014/main" id="{A8DD63FF-376B-472A-BD4A-441D7DE03B95}"/>
              </a:ext>
            </a:extLst>
          </p:cNvPr>
          <p:cNvSpPr txBox="1"/>
          <p:nvPr/>
        </p:nvSpPr>
        <p:spPr>
          <a:xfrm>
            <a:off x="1235990" y="2778324"/>
            <a:ext cx="6511130" cy="923330"/>
          </a:xfrm>
          <a:prstGeom prst="rect">
            <a:avLst/>
          </a:prstGeom>
          <a:noFill/>
        </p:spPr>
        <p:txBody>
          <a:bodyPr wrap="square" rtlCol="0">
            <a:spAutoFit/>
          </a:bodyPr>
          <a:lstStyle/>
          <a:p>
            <a:r>
              <a:rPr lang="ro-RO" dirty="0" err="1">
                <a:solidFill>
                  <a:schemeClr val="bg1"/>
                </a:solidFill>
                <a:latin typeface="+mj-lt"/>
              </a:rPr>
              <a:t>Explanation</a:t>
            </a:r>
            <a:endParaRPr lang="ro-RO" dirty="0">
              <a:solidFill>
                <a:schemeClr val="bg1"/>
              </a:solidFill>
              <a:latin typeface="+mj-lt"/>
            </a:endParaRPr>
          </a:p>
          <a:p>
            <a:r>
              <a:rPr lang="ro-RO" dirty="0" err="1">
                <a:solidFill>
                  <a:schemeClr val="bg1"/>
                </a:solidFill>
                <a:latin typeface="+mj-lt"/>
              </a:rPr>
              <a:t>This</a:t>
            </a:r>
            <a:r>
              <a:rPr lang="ro-RO" dirty="0">
                <a:solidFill>
                  <a:schemeClr val="bg1"/>
                </a:solidFill>
                <a:latin typeface="+mj-lt"/>
              </a:rPr>
              <a:t> </a:t>
            </a:r>
            <a:r>
              <a:rPr lang="ro-RO" dirty="0" err="1">
                <a:solidFill>
                  <a:schemeClr val="bg1"/>
                </a:solidFill>
                <a:latin typeface="+mj-lt"/>
              </a:rPr>
              <a:t>function</a:t>
            </a:r>
            <a:r>
              <a:rPr lang="ro-RO" dirty="0">
                <a:solidFill>
                  <a:schemeClr val="bg1"/>
                </a:solidFill>
                <a:latin typeface="+mj-lt"/>
              </a:rPr>
              <a:t> </a:t>
            </a:r>
            <a:r>
              <a:rPr lang="ro-RO" dirty="0" err="1">
                <a:solidFill>
                  <a:schemeClr val="bg1"/>
                </a:solidFill>
                <a:latin typeface="+mj-lt"/>
              </a:rPr>
              <a:t>handles</a:t>
            </a:r>
            <a:r>
              <a:rPr lang="ro-RO" dirty="0">
                <a:solidFill>
                  <a:schemeClr val="bg1"/>
                </a:solidFill>
                <a:latin typeface="+mj-lt"/>
              </a:rPr>
              <a:t> </a:t>
            </a:r>
            <a:r>
              <a:rPr lang="ro-RO" dirty="0" err="1">
                <a:solidFill>
                  <a:schemeClr val="bg1"/>
                </a:solidFill>
                <a:latin typeface="+mj-lt"/>
              </a:rPr>
              <a:t>the</a:t>
            </a:r>
            <a:r>
              <a:rPr lang="ro-RO" dirty="0">
                <a:solidFill>
                  <a:schemeClr val="bg1"/>
                </a:solidFill>
                <a:latin typeface="+mj-lt"/>
              </a:rPr>
              <a:t> logic for </a:t>
            </a:r>
            <a:r>
              <a:rPr lang="ro-RO" dirty="0" err="1">
                <a:solidFill>
                  <a:schemeClr val="bg1"/>
                </a:solidFill>
                <a:latin typeface="+mj-lt"/>
              </a:rPr>
              <a:t>initiating</a:t>
            </a:r>
            <a:r>
              <a:rPr lang="ro-RO" dirty="0">
                <a:solidFill>
                  <a:schemeClr val="bg1"/>
                </a:solidFill>
                <a:latin typeface="+mj-lt"/>
              </a:rPr>
              <a:t> </a:t>
            </a:r>
            <a:r>
              <a:rPr lang="ro-RO" dirty="0" err="1">
                <a:solidFill>
                  <a:schemeClr val="bg1"/>
                </a:solidFill>
                <a:latin typeface="+mj-lt"/>
              </a:rPr>
              <a:t>motors</a:t>
            </a:r>
            <a:r>
              <a:rPr lang="ro-RO" dirty="0">
                <a:solidFill>
                  <a:schemeClr val="bg1"/>
                </a:solidFill>
                <a:latin typeface="+mj-lt"/>
              </a:rPr>
              <a:t> </a:t>
            </a:r>
            <a:r>
              <a:rPr lang="ro-RO" dirty="0" err="1">
                <a:solidFill>
                  <a:schemeClr val="bg1"/>
                </a:solidFill>
                <a:latin typeface="+mj-lt"/>
              </a:rPr>
              <a:t>based</a:t>
            </a:r>
            <a:r>
              <a:rPr lang="ro-RO" dirty="0">
                <a:solidFill>
                  <a:schemeClr val="bg1"/>
                </a:solidFill>
                <a:latin typeface="+mj-lt"/>
              </a:rPr>
              <a:t> on </a:t>
            </a:r>
            <a:r>
              <a:rPr lang="ro-RO" dirty="0" err="1">
                <a:solidFill>
                  <a:schemeClr val="bg1"/>
                </a:solidFill>
                <a:latin typeface="+mj-lt"/>
              </a:rPr>
              <a:t>change</a:t>
            </a:r>
            <a:r>
              <a:rPr lang="ro-RO" dirty="0">
                <a:solidFill>
                  <a:schemeClr val="bg1"/>
                </a:solidFill>
                <a:latin typeface="+mj-lt"/>
              </a:rPr>
              <a:t> mode </a:t>
            </a:r>
            <a:r>
              <a:rPr lang="ro-RO" dirty="0" err="1">
                <a:solidFill>
                  <a:schemeClr val="bg1"/>
                </a:solidFill>
                <a:latin typeface="+mj-lt"/>
              </a:rPr>
              <a:t>and</a:t>
            </a:r>
            <a:r>
              <a:rPr lang="ro-RO" dirty="0">
                <a:solidFill>
                  <a:schemeClr val="bg1"/>
                </a:solidFill>
                <a:latin typeface="+mj-lt"/>
              </a:rPr>
              <a:t> </a:t>
            </a:r>
            <a:r>
              <a:rPr lang="ro-RO" dirty="0" err="1">
                <a:solidFill>
                  <a:schemeClr val="bg1"/>
                </a:solidFill>
                <a:latin typeface="+mj-lt"/>
              </a:rPr>
              <a:t>starts</a:t>
            </a:r>
            <a:r>
              <a:rPr lang="ro-RO" dirty="0">
                <a:solidFill>
                  <a:schemeClr val="bg1"/>
                </a:solidFill>
                <a:latin typeface="+mj-lt"/>
              </a:rPr>
              <a:t> an LED </a:t>
            </a:r>
            <a:r>
              <a:rPr lang="ro-RO" dirty="0" err="1">
                <a:solidFill>
                  <a:schemeClr val="bg1"/>
                </a:solidFill>
                <a:latin typeface="+mj-lt"/>
              </a:rPr>
              <a:t>blinking</a:t>
            </a:r>
            <a:r>
              <a:rPr lang="ro-RO" dirty="0">
                <a:solidFill>
                  <a:schemeClr val="bg1"/>
                </a:solidFill>
                <a:latin typeface="+mj-lt"/>
              </a:rPr>
              <a:t>.</a:t>
            </a:r>
          </a:p>
        </p:txBody>
      </p:sp>
      <p:pic>
        <p:nvPicPr>
          <p:cNvPr id="15" name="Imagine 14">
            <a:extLst>
              <a:ext uri="{FF2B5EF4-FFF2-40B4-BE49-F238E27FC236}">
                <a16:creationId xmlns:a16="http://schemas.microsoft.com/office/drawing/2014/main" id="{6E75E76F-EDD8-4E2C-A921-1E8131FB9F93}"/>
              </a:ext>
            </a:extLst>
          </p:cNvPr>
          <p:cNvPicPr>
            <a:picLocks noChangeAspect="1"/>
          </p:cNvPicPr>
          <p:nvPr/>
        </p:nvPicPr>
        <p:blipFill>
          <a:blip r:embed="rId3"/>
          <a:stretch>
            <a:fillRect/>
          </a:stretch>
        </p:blipFill>
        <p:spPr>
          <a:xfrm>
            <a:off x="7954349" y="2654622"/>
            <a:ext cx="3121777" cy="2746538"/>
          </a:xfrm>
          <a:prstGeom prst="rect">
            <a:avLst/>
          </a:prstGeom>
        </p:spPr>
      </p:pic>
    </p:spTree>
    <p:extLst>
      <p:ext uri="{BB962C8B-B14F-4D97-AF65-F5344CB8AC3E}">
        <p14:creationId xmlns:p14="http://schemas.microsoft.com/office/powerpoint/2010/main" val="24479540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3">
            <a:lumMod val="50000"/>
          </a:schemeClr>
        </a:solidFill>
        <a:effectLst/>
      </p:bgPr>
    </p:bg>
    <p:spTree>
      <p:nvGrpSpPr>
        <p:cNvPr id="1" name=""/>
        <p:cNvGrpSpPr/>
        <p:nvPr/>
      </p:nvGrpSpPr>
      <p:grpSpPr>
        <a:xfrm>
          <a:off x="0" y="0"/>
          <a:ext cx="0" cy="0"/>
          <a:chOff x="0" y="0"/>
          <a:chExt cx="0" cy="0"/>
        </a:xfrm>
      </p:grpSpPr>
      <p:sp>
        <p:nvSpPr>
          <p:cNvPr id="7" name="Title 6" hidden="1">
            <a:extLst>
              <a:ext uri="{FF2B5EF4-FFF2-40B4-BE49-F238E27FC236}">
                <a16:creationId xmlns:a16="http://schemas.microsoft.com/office/drawing/2014/main" id="{ED2F5393-91A3-4102-A584-E902285C507A}"/>
              </a:ext>
            </a:extLst>
          </p:cNvPr>
          <p:cNvSpPr>
            <a:spLocks noGrp="1"/>
          </p:cNvSpPr>
          <p:nvPr>
            <p:ph type="title" idx="4294967295"/>
          </p:nvPr>
        </p:nvSpPr>
        <p:spPr>
          <a:xfrm>
            <a:off x="0" y="365125"/>
            <a:ext cx="10515600" cy="1325563"/>
          </a:xfrm>
        </p:spPr>
        <p:txBody>
          <a:bodyPr/>
          <a:lstStyle/>
          <a:p>
            <a:r>
              <a:rPr lang="en-US" dirty="0"/>
              <a:t>Project analysis slide 4</a:t>
            </a: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75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228600" y="159239"/>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o-RO" sz="2800" b="1" dirty="0">
                <a:solidFill>
                  <a:schemeClr val="bg1"/>
                </a:solidFill>
              </a:rPr>
              <a:t>Central </a:t>
            </a:r>
            <a:r>
              <a:rPr lang="ro-RO" sz="2800" b="1" dirty="0" err="1">
                <a:solidFill>
                  <a:schemeClr val="bg1"/>
                </a:solidFill>
              </a:rPr>
              <a:t>Door</a:t>
            </a:r>
            <a:r>
              <a:rPr lang="ro-RO" sz="2800" b="1" dirty="0">
                <a:solidFill>
                  <a:schemeClr val="bg1"/>
                </a:solidFill>
              </a:rPr>
              <a:t> </a:t>
            </a:r>
            <a:r>
              <a:rPr lang="ro-RO" sz="2800" b="1" dirty="0" err="1">
                <a:solidFill>
                  <a:schemeClr val="bg1"/>
                </a:solidFill>
              </a:rPr>
              <a:t>Locking</a:t>
            </a:r>
            <a:br>
              <a:rPr lang="en-US" sz="2800" dirty="0">
                <a:solidFill>
                  <a:schemeClr val="tx1">
                    <a:lumMod val="75000"/>
                    <a:lumOff val="25000"/>
                  </a:schemeClr>
                </a:solidFill>
              </a:rPr>
            </a:b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75000"/>
              </a:schemeClr>
            </a:solidFill>
            <a:tailEnd type="oval"/>
          </a:ln>
        </p:spPr>
        <p:style>
          <a:lnRef idx="1">
            <a:schemeClr val="accent1"/>
          </a:lnRef>
          <a:fillRef idx="0">
            <a:schemeClr val="accent1"/>
          </a:fillRef>
          <a:effectRef idx="0">
            <a:schemeClr val="accent1"/>
          </a:effectRef>
          <a:fontRef idx="minor">
            <a:schemeClr val="tx1"/>
          </a:fontRef>
        </p:style>
      </p:cxnSp>
      <p:sp>
        <p:nvSpPr>
          <p:cNvPr id="4" name="CasetăText 3">
            <a:extLst>
              <a:ext uri="{FF2B5EF4-FFF2-40B4-BE49-F238E27FC236}">
                <a16:creationId xmlns:a16="http://schemas.microsoft.com/office/drawing/2014/main" id="{015A30EA-C0B3-473C-ADCD-7AE9547E4BE0}"/>
              </a:ext>
            </a:extLst>
          </p:cNvPr>
          <p:cNvSpPr txBox="1"/>
          <p:nvPr/>
        </p:nvSpPr>
        <p:spPr>
          <a:xfrm>
            <a:off x="884008" y="1578356"/>
            <a:ext cx="10423984" cy="646331"/>
          </a:xfrm>
          <a:prstGeom prst="rect">
            <a:avLst/>
          </a:prstGeom>
          <a:noFill/>
        </p:spPr>
        <p:txBody>
          <a:bodyPr wrap="square" rtlCol="0">
            <a:spAutoFit/>
          </a:bodyPr>
          <a:lstStyle/>
          <a:p>
            <a:pPr algn="ctr"/>
            <a:r>
              <a:rPr lang="ro-RO" sz="3600" b="1" dirty="0" err="1">
                <a:solidFill>
                  <a:schemeClr val="bg1"/>
                </a:solidFill>
                <a:latin typeface="+mj-lt"/>
              </a:rPr>
              <a:t>readPassword</a:t>
            </a:r>
            <a:r>
              <a:rPr lang="ro-RO" sz="3600" b="1" dirty="0">
                <a:solidFill>
                  <a:schemeClr val="bg1"/>
                </a:solidFill>
                <a:latin typeface="+mj-lt"/>
              </a:rPr>
              <a:t>()</a:t>
            </a:r>
          </a:p>
        </p:txBody>
      </p:sp>
      <p:sp>
        <p:nvSpPr>
          <p:cNvPr id="5" name="CasetăText 4">
            <a:extLst>
              <a:ext uri="{FF2B5EF4-FFF2-40B4-BE49-F238E27FC236}">
                <a16:creationId xmlns:a16="http://schemas.microsoft.com/office/drawing/2014/main" id="{A8DD63FF-376B-472A-BD4A-441D7DE03B95}"/>
              </a:ext>
            </a:extLst>
          </p:cNvPr>
          <p:cNvSpPr txBox="1"/>
          <p:nvPr/>
        </p:nvSpPr>
        <p:spPr>
          <a:xfrm>
            <a:off x="738403" y="2755075"/>
            <a:ext cx="7057243" cy="1200329"/>
          </a:xfrm>
          <a:prstGeom prst="rect">
            <a:avLst/>
          </a:prstGeom>
          <a:noFill/>
        </p:spPr>
        <p:txBody>
          <a:bodyPr wrap="square" rtlCol="0">
            <a:spAutoFit/>
          </a:bodyPr>
          <a:lstStyle/>
          <a:p>
            <a:r>
              <a:rPr lang="ro-RO" dirty="0" err="1">
                <a:solidFill>
                  <a:schemeClr val="bg1"/>
                </a:solidFill>
                <a:latin typeface="+mj-lt"/>
              </a:rPr>
              <a:t>Explanation</a:t>
            </a:r>
            <a:endParaRPr lang="ro-RO" dirty="0">
              <a:solidFill>
                <a:schemeClr val="bg1"/>
              </a:solidFill>
              <a:latin typeface="+mj-lt"/>
            </a:endParaRPr>
          </a:p>
          <a:p>
            <a:r>
              <a:rPr lang="ro-RO" dirty="0" err="1">
                <a:solidFill>
                  <a:schemeClr val="bg1"/>
                </a:solidFill>
                <a:latin typeface="+mj-lt"/>
              </a:rPr>
              <a:t>This</a:t>
            </a:r>
            <a:r>
              <a:rPr lang="ro-RO" dirty="0">
                <a:solidFill>
                  <a:schemeClr val="bg1"/>
                </a:solidFill>
                <a:latin typeface="+mj-lt"/>
              </a:rPr>
              <a:t> </a:t>
            </a:r>
            <a:r>
              <a:rPr lang="ro-RO" dirty="0" err="1">
                <a:solidFill>
                  <a:schemeClr val="bg1"/>
                </a:solidFill>
                <a:latin typeface="+mj-lt"/>
              </a:rPr>
              <a:t>function</a:t>
            </a:r>
            <a:r>
              <a:rPr lang="ro-RO" dirty="0">
                <a:solidFill>
                  <a:schemeClr val="bg1"/>
                </a:solidFill>
                <a:latin typeface="+mj-lt"/>
              </a:rPr>
              <a:t> </a:t>
            </a:r>
            <a:r>
              <a:rPr lang="ro-RO" dirty="0" err="1">
                <a:solidFill>
                  <a:schemeClr val="bg1"/>
                </a:solidFill>
                <a:latin typeface="+mj-lt"/>
              </a:rPr>
              <a:t>reads</a:t>
            </a:r>
            <a:r>
              <a:rPr lang="ro-RO" dirty="0">
                <a:solidFill>
                  <a:schemeClr val="bg1"/>
                </a:solidFill>
                <a:latin typeface="+mj-lt"/>
              </a:rPr>
              <a:t> </a:t>
            </a:r>
            <a:r>
              <a:rPr lang="ro-RO" dirty="0" err="1">
                <a:solidFill>
                  <a:schemeClr val="bg1"/>
                </a:solidFill>
                <a:latin typeface="+mj-lt"/>
              </a:rPr>
              <a:t>the</a:t>
            </a:r>
            <a:r>
              <a:rPr lang="ro-RO" dirty="0">
                <a:solidFill>
                  <a:schemeClr val="bg1"/>
                </a:solidFill>
                <a:latin typeface="+mj-lt"/>
              </a:rPr>
              <a:t> </a:t>
            </a:r>
            <a:r>
              <a:rPr lang="ro-RO" dirty="0" err="1">
                <a:solidFill>
                  <a:schemeClr val="bg1"/>
                </a:solidFill>
                <a:latin typeface="+mj-lt"/>
              </a:rPr>
              <a:t>entered</a:t>
            </a:r>
            <a:r>
              <a:rPr lang="ro-RO" dirty="0">
                <a:solidFill>
                  <a:schemeClr val="bg1"/>
                </a:solidFill>
                <a:latin typeface="+mj-lt"/>
              </a:rPr>
              <a:t> </a:t>
            </a:r>
            <a:r>
              <a:rPr lang="ro-RO" dirty="0" err="1">
                <a:solidFill>
                  <a:schemeClr val="bg1"/>
                </a:solidFill>
                <a:latin typeface="+mj-lt"/>
              </a:rPr>
              <a:t>password,checks</a:t>
            </a:r>
            <a:r>
              <a:rPr lang="ro-RO" dirty="0">
                <a:solidFill>
                  <a:schemeClr val="bg1"/>
                </a:solidFill>
                <a:latin typeface="+mj-lt"/>
              </a:rPr>
              <a:t> </a:t>
            </a:r>
            <a:r>
              <a:rPr lang="ro-RO" dirty="0" err="1">
                <a:solidFill>
                  <a:schemeClr val="bg1"/>
                </a:solidFill>
                <a:latin typeface="+mj-lt"/>
              </a:rPr>
              <a:t>if</a:t>
            </a:r>
            <a:r>
              <a:rPr lang="ro-RO" dirty="0">
                <a:solidFill>
                  <a:schemeClr val="bg1"/>
                </a:solidFill>
                <a:latin typeface="+mj-lt"/>
              </a:rPr>
              <a:t> it </a:t>
            </a:r>
            <a:r>
              <a:rPr lang="ro-RO" dirty="0" err="1">
                <a:solidFill>
                  <a:schemeClr val="bg1"/>
                </a:solidFill>
                <a:latin typeface="+mj-lt"/>
              </a:rPr>
              <a:t>is</a:t>
            </a:r>
            <a:r>
              <a:rPr lang="ro-RO" dirty="0">
                <a:solidFill>
                  <a:schemeClr val="bg1"/>
                </a:solidFill>
                <a:latin typeface="+mj-lt"/>
              </a:rPr>
              <a:t> </a:t>
            </a:r>
            <a:r>
              <a:rPr lang="ro-RO" dirty="0" err="1">
                <a:solidFill>
                  <a:schemeClr val="bg1"/>
                </a:solidFill>
                <a:latin typeface="+mj-lt"/>
              </a:rPr>
              <a:t>correct</a:t>
            </a:r>
            <a:r>
              <a:rPr lang="ro-RO" dirty="0">
                <a:solidFill>
                  <a:schemeClr val="bg1"/>
                </a:solidFill>
                <a:latin typeface="+mj-lt"/>
              </a:rPr>
              <a:t> </a:t>
            </a:r>
            <a:r>
              <a:rPr lang="ro-RO" dirty="0" err="1">
                <a:solidFill>
                  <a:schemeClr val="bg1"/>
                </a:solidFill>
                <a:latin typeface="+mj-lt"/>
              </a:rPr>
              <a:t>and</a:t>
            </a:r>
            <a:r>
              <a:rPr lang="ro-RO" dirty="0">
                <a:solidFill>
                  <a:schemeClr val="bg1"/>
                </a:solidFill>
                <a:latin typeface="+mj-lt"/>
              </a:rPr>
              <a:t> </a:t>
            </a:r>
            <a:r>
              <a:rPr lang="ro-RO" dirty="0" err="1">
                <a:solidFill>
                  <a:schemeClr val="bg1"/>
                </a:solidFill>
                <a:latin typeface="+mj-lt"/>
              </a:rPr>
              <a:t>manages</a:t>
            </a:r>
            <a:r>
              <a:rPr lang="ro-RO" dirty="0">
                <a:solidFill>
                  <a:schemeClr val="bg1"/>
                </a:solidFill>
                <a:latin typeface="+mj-lt"/>
              </a:rPr>
              <a:t> </a:t>
            </a:r>
            <a:r>
              <a:rPr lang="ro-RO" dirty="0" err="1">
                <a:solidFill>
                  <a:schemeClr val="bg1"/>
                </a:solidFill>
                <a:latin typeface="+mj-lt"/>
              </a:rPr>
              <a:t>the</a:t>
            </a:r>
            <a:r>
              <a:rPr lang="ro-RO" dirty="0">
                <a:solidFill>
                  <a:schemeClr val="bg1"/>
                </a:solidFill>
                <a:latin typeface="+mj-lt"/>
              </a:rPr>
              <a:t> logic for </a:t>
            </a:r>
            <a:r>
              <a:rPr lang="ro-RO" dirty="0" err="1">
                <a:solidFill>
                  <a:schemeClr val="bg1"/>
                </a:solidFill>
                <a:latin typeface="+mj-lt"/>
              </a:rPr>
              <a:t>failed</a:t>
            </a:r>
            <a:r>
              <a:rPr lang="ro-RO" dirty="0">
                <a:solidFill>
                  <a:schemeClr val="bg1"/>
                </a:solidFill>
                <a:latin typeface="+mj-lt"/>
              </a:rPr>
              <a:t> </a:t>
            </a:r>
            <a:r>
              <a:rPr lang="ro-RO" dirty="0" err="1">
                <a:solidFill>
                  <a:schemeClr val="bg1"/>
                </a:solidFill>
                <a:latin typeface="+mj-lt"/>
              </a:rPr>
              <a:t>attempts,including</a:t>
            </a:r>
            <a:r>
              <a:rPr lang="ro-RO" dirty="0">
                <a:solidFill>
                  <a:schemeClr val="bg1"/>
                </a:solidFill>
                <a:latin typeface="+mj-lt"/>
              </a:rPr>
              <a:t> </a:t>
            </a:r>
            <a:r>
              <a:rPr lang="ro-RO" dirty="0" err="1">
                <a:solidFill>
                  <a:schemeClr val="bg1"/>
                </a:solidFill>
                <a:latin typeface="+mj-lt"/>
              </a:rPr>
              <a:t>locking</a:t>
            </a:r>
            <a:r>
              <a:rPr lang="ro-RO" dirty="0">
                <a:solidFill>
                  <a:schemeClr val="bg1"/>
                </a:solidFill>
                <a:latin typeface="+mj-lt"/>
              </a:rPr>
              <a:t> </a:t>
            </a:r>
            <a:r>
              <a:rPr lang="ro-RO" dirty="0" err="1">
                <a:solidFill>
                  <a:schemeClr val="bg1"/>
                </a:solidFill>
                <a:latin typeface="+mj-lt"/>
              </a:rPr>
              <a:t>the</a:t>
            </a:r>
            <a:r>
              <a:rPr lang="ro-RO" dirty="0">
                <a:solidFill>
                  <a:schemeClr val="bg1"/>
                </a:solidFill>
                <a:latin typeface="+mj-lt"/>
              </a:rPr>
              <a:t> </a:t>
            </a:r>
            <a:r>
              <a:rPr lang="ro-RO" dirty="0" err="1">
                <a:solidFill>
                  <a:schemeClr val="bg1"/>
                </a:solidFill>
                <a:latin typeface="+mj-lt"/>
              </a:rPr>
              <a:t>system</a:t>
            </a:r>
            <a:r>
              <a:rPr lang="ro-RO" dirty="0">
                <a:solidFill>
                  <a:schemeClr val="bg1"/>
                </a:solidFill>
                <a:latin typeface="+mj-lt"/>
              </a:rPr>
              <a:t> </a:t>
            </a:r>
            <a:r>
              <a:rPr lang="ro-RO" dirty="0" err="1">
                <a:solidFill>
                  <a:schemeClr val="bg1"/>
                </a:solidFill>
                <a:latin typeface="+mj-lt"/>
              </a:rPr>
              <a:t>after</a:t>
            </a:r>
            <a:r>
              <a:rPr lang="ro-RO" dirty="0">
                <a:solidFill>
                  <a:schemeClr val="bg1"/>
                </a:solidFill>
                <a:latin typeface="+mj-lt"/>
              </a:rPr>
              <a:t> 3 </a:t>
            </a:r>
            <a:r>
              <a:rPr lang="ro-RO" dirty="0" err="1">
                <a:solidFill>
                  <a:schemeClr val="bg1"/>
                </a:solidFill>
                <a:latin typeface="+mj-lt"/>
              </a:rPr>
              <a:t>incorrect</a:t>
            </a:r>
            <a:r>
              <a:rPr lang="ro-RO" dirty="0">
                <a:solidFill>
                  <a:schemeClr val="bg1"/>
                </a:solidFill>
                <a:latin typeface="+mj-lt"/>
              </a:rPr>
              <a:t> </a:t>
            </a:r>
            <a:r>
              <a:rPr lang="ro-RO" dirty="0" err="1">
                <a:solidFill>
                  <a:schemeClr val="bg1"/>
                </a:solidFill>
                <a:latin typeface="+mj-lt"/>
              </a:rPr>
              <a:t>tries</a:t>
            </a:r>
            <a:r>
              <a:rPr lang="ro-RO" dirty="0">
                <a:solidFill>
                  <a:schemeClr val="bg1"/>
                </a:solidFill>
                <a:latin typeface="+mj-lt"/>
              </a:rPr>
              <a:t>.</a:t>
            </a:r>
          </a:p>
        </p:txBody>
      </p:sp>
      <p:pic>
        <p:nvPicPr>
          <p:cNvPr id="3" name="Imagine 2">
            <a:extLst>
              <a:ext uri="{FF2B5EF4-FFF2-40B4-BE49-F238E27FC236}">
                <a16:creationId xmlns:a16="http://schemas.microsoft.com/office/drawing/2014/main" id="{879936CC-4E9A-4521-B7EF-D8D598F2F886}"/>
              </a:ext>
            </a:extLst>
          </p:cNvPr>
          <p:cNvPicPr>
            <a:picLocks noChangeAspect="1"/>
          </p:cNvPicPr>
          <p:nvPr/>
        </p:nvPicPr>
        <p:blipFill>
          <a:blip r:embed="rId3"/>
          <a:stretch>
            <a:fillRect/>
          </a:stretch>
        </p:blipFill>
        <p:spPr>
          <a:xfrm>
            <a:off x="8105775" y="2874419"/>
            <a:ext cx="3499713" cy="2862074"/>
          </a:xfrm>
          <a:prstGeom prst="rect">
            <a:avLst/>
          </a:prstGeom>
        </p:spPr>
      </p:pic>
    </p:spTree>
    <p:extLst>
      <p:ext uri="{BB962C8B-B14F-4D97-AF65-F5344CB8AC3E}">
        <p14:creationId xmlns:p14="http://schemas.microsoft.com/office/powerpoint/2010/main" val="29685791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3">
            <a:lumMod val="50000"/>
          </a:schemeClr>
        </a:solidFill>
        <a:effectLst/>
      </p:bgPr>
    </p:bg>
    <p:spTree>
      <p:nvGrpSpPr>
        <p:cNvPr id="1" name=""/>
        <p:cNvGrpSpPr/>
        <p:nvPr/>
      </p:nvGrpSpPr>
      <p:grpSpPr>
        <a:xfrm>
          <a:off x="0" y="0"/>
          <a:ext cx="0" cy="0"/>
          <a:chOff x="0" y="0"/>
          <a:chExt cx="0" cy="0"/>
        </a:xfrm>
      </p:grpSpPr>
      <p:sp>
        <p:nvSpPr>
          <p:cNvPr id="7" name="Title 6" hidden="1">
            <a:extLst>
              <a:ext uri="{FF2B5EF4-FFF2-40B4-BE49-F238E27FC236}">
                <a16:creationId xmlns:a16="http://schemas.microsoft.com/office/drawing/2014/main" id="{ED2F5393-91A3-4102-A584-E902285C507A}"/>
              </a:ext>
            </a:extLst>
          </p:cNvPr>
          <p:cNvSpPr>
            <a:spLocks noGrp="1"/>
          </p:cNvSpPr>
          <p:nvPr>
            <p:ph type="title" idx="4294967295"/>
          </p:nvPr>
        </p:nvSpPr>
        <p:spPr>
          <a:xfrm>
            <a:off x="0" y="365125"/>
            <a:ext cx="10515600" cy="1325563"/>
          </a:xfrm>
        </p:spPr>
        <p:txBody>
          <a:bodyPr/>
          <a:lstStyle/>
          <a:p>
            <a:r>
              <a:rPr lang="en-US" dirty="0"/>
              <a:t>Project analysis slide 4</a:t>
            </a: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75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228600" y="151490"/>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o-RO" sz="2800" b="1" dirty="0">
                <a:solidFill>
                  <a:schemeClr val="bg1"/>
                </a:solidFill>
              </a:rPr>
              <a:t>Central </a:t>
            </a:r>
            <a:r>
              <a:rPr lang="ro-RO" sz="2800" b="1" dirty="0" err="1">
                <a:solidFill>
                  <a:schemeClr val="bg1"/>
                </a:solidFill>
              </a:rPr>
              <a:t>Door</a:t>
            </a:r>
            <a:r>
              <a:rPr lang="ro-RO" sz="2800" b="1" dirty="0">
                <a:solidFill>
                  <a:schemeClr val="bg1"/>
                </a:solidFill>
              </a:rPr>
              <a:t> </a:t>
            </a:r>
            <a:r>
              <a:rPr lang="ro-RO" sz="2800" b="1" dirty="0" err="1">
                <a:solidFill>
                  <a:schemeClr val="bg1"/>
                </a:solidFill>
              </a:rPr>
              <a:t>Locking</a:t>
            </a:r>
            <a:r>
              <a:rPr lang="ro-RO" sz="2800" b="1" dirty="0">
                <a:solidFill>
                  <a:schemeClr val="bg1"/>
                </a:solidFill>
              </a:rPr>
              <a:t> </a:t>
            </a:r>
            <a:br>
              <a:rPr lang="en-US" sz="2800" dirty="0">
                <a:solidFill>
                  <a:schemeClr val="tx1">
                    <a:lumMod val="75000"/>
                    <a:lumOff val="25000"/>
                  </a:schemeClr>
                </a:solidFill>
              </a:rPr>
            </a:b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75000"/>
              </a:schemeClr>
            </a:solidFill>
            <a:tailEnd type="oval"/>
          </a:ln>
        </p:spPr>
        <p:style>
          <a:lnRef idx="1">
            <a:schemeClr val="accent1"/>
          </a:lnRef>
          <a:fillRef idx="0">
            <a:schemeClr val="accent1"/>
          </a:fillRef>
          <a:effectRef idx="0">
            <a:schemeClr val="accent1"/>
          </a:effectRef>
          <a:fontRef idx="minor">
            <a:schemeClr val="tx1"/>
          </a:fontRef>
        </p:style>
      </p:cxnSp>
      <p:sp>
        <p:nvSpPr>
          <p:cNvPr id="9" name="CasetăText 8">
            <a:extLst>
              <a:ext uri="{FF2B5EF4-FFF2-40B4-BE49-F238E27FC236}">
                <a16:creationId xmlns:a16="http://schemas.microsoft.com/office/drawing/2014/main" id="{6565249E-47E3-49AC-A26D-6288C28199B4}"/>
              </a:ext>
            </a:extLst>
          </p:cNvPr>
          <p:cNvSpPr txBox="1"/>
          <p:nvPr/>
        </p:nvSpPr>
        <p:spPr>
          <a:xfrm>
            <a:off x="228600" y="1686293"/>
            <a:ext cx="7760776" cy="1415772"/>
          </a:xfrm>
          <a:prstGeom prst="rect">
            <a:avLst/>
          </a:prstGeom>
          <a:noFill/>
        </p:spPr>
        <p:txBody>
          <a:bodyPr wrap="square" rtlCol="0">
            <a:spAutoFit/>
          </a:bodyPr>
          <a:lstStyle/>
          <a:p>
            <a:r>
              <a:rPr lang="ro-RO" sz="3200" dirty="0" err="1">
                <a:solidFill>
                  <a:schemeClr val="bg1"/>
                </a:solidFill>
                <a:latin typeface="+mj-lt"/>
              </a:rPr>
              <a:t>Future</a:t>
            </a:r>
            <a:r>
              <a:rPr lang="ro-RO" sz="3200" dirty="0">
                <a:solidFill>
                  <a:schemeClr val="bg1"/>
                </a:solidFill>
                <a:latin typeface="+mj-lt"/>
              </a:rPr>
              <a:t> </a:t>
            </a:r>
            <a:r>
              <a:rPr lang="ro-RO" sz="3200" dirty="0" err="1">
                <a:solidFill>
                  <a:schemeClr val="bg1"/>
                </a:solidFill>
                <a:latin typeface="+mj-lt"/>
              </a:rPr>
              <a:t>upgrades</a:t>
            </a:r>
            <a:endParaRPr lang="ro-RO" sz="3200" dirty="0">
              <a:solidFill>
                <a:schemeClr val="bg1"/>
              </a:solidFill>
              <a:latin typeface="+mj-lt"/>
            </a:endParaRPr>
          </a:p>
          <a:p>
            <a:pPr marL="285750" indent="-285750">
              <a:buFont typeface="Arial" panose="020B0604020202020204" pitchFamily="34" charset="0"/>
              <a:buChar char="•"/>
            </a:pPr>
            <a:r>
              <a:rPr lang="ro-RO" dirty="0">
                <a:solidFill>
                  <a:schemeClr val="bg1"/>
                </a:solidFill>
                <a:latin typeface="+mj-lt"/>
              </a:rPr>
              <a:t>I2C Protocol </a:t>
            </a:r>
            <a:r>
              <a:rPr lang="ro-RO" dirty="0" err="1">
                <a:solidFill>
                  <a:schemeClr val="bg1"/>
                </a:solidFill>
                <a:latin typeface="+mj-lt"/>
              </a:rPr>
              <a:t>Integration</a:t>
            </a:r>
            <a:endParaRPr lang="ro-RO" dirty="0">
              <a:solidFill>
                <a:schemeClr val="bg1"/>
              </a:solidFill>
              <a:latin typeface="+mj-lt"/>
            </a:endParaRPr>
          </a:p>
          <a:p>
            <a:pPr marL="285750" indent="-285750">
              <a:buFont typeface="Arial" panose="020B0604020202020204" pitchFamily="34" charset="0"/>
              <a:buChar char="•"/>
            </a:pPr>
            <a:r>
              <a:rPr lang="ro-RO" dirty="0">
                <a:solidFill>
                  <a:schemeClr val="bg1"/>
                </a:solidFill>
                <a:latin typeface="+mj-lt"/>
              </a:rPr>
              <a:t>Bluetooth Mobile </a:t>
            </a:r>
            <a:r>
              <a:rPr lang="ro-RO" dirty="0" err="1">
                <a:solidFill>
                  <a:schemeClr val="bg1"/>
                </a:solidFill>
                <a:latin typeface="+mj-lt"/>
              </a:rPr>
              <a:t>App</a:t>
            </a:r>
            <a:r>
              <a:rPr lang="ro-RO" dirty="0">
                <a:solidFill>
                  <a:schemeClr val="bg1"/>
                </a:solidFill>
                <a:latin typeface="+mj-lt"/>
              </a:rPr>
              <a:t> </a:t>
            </a:r>
            <a:r>
              <a:rPr lang="ro-RO" dirty="0" err="1">
                <a:solidFill>
                  <a:schemeClr val="bg1"/>
                </a:solidFill>
                <a:latin typeface="+mj-lt"/>
              </a:rPr>
              <a:t>Integration</a:t>
            </a:r>
            <a:endParaRPr lang="ro-RO" dirty="0">
              <a:solidFill>
                <a:schemeClr val="bg1"/>
              </a:solidFill>
              <a:latin typeface="+mj-lt"/>
            </a:endParaRPr>
          </a:p>
          <a:p>
            <a:pPr marL="285750" indent="-285750">
              <a:buFont typeface="Arial" panose="020B0604020202020204" pitchFamily="34" charset="0"/>
              <a:buChar char="•"/>
            </a:pPr>
            <a:r>
              <a:rPr lang="ro-RO" dirty="0" err="1">
                <a:solidFill>
                  <a:schemeClr val="bg1"/>
                </a:solidFill>
                <a:latin typeface="+mj-lt"/>
              </a:rPr>
              <a:t>Fingerprint</a:t>
            </a:r>
            <a:r>
              <a:rPr lang="ro-RO" dirty="0">
                <a:solidFill>
                  <a:schemeClr val="bg1"/>
                </a:solidFill>
                <a:latin typeface="+mj-lt"/>
              </a:rPr>
              <a:t> </a:t>
            </a:r>
            <a:r>
              <a:rPr lang="ro-RO" dirty="0" err="1">
                <a:solidFill>
                  <a:schemeClr val="bg1"/>
                </a:solidFill>
                <a:latin typeface="+mj-lt"/>
              </a:rPr>
              <a:t>Sensor</a:t>
            </a:r>
            <a:r>
              <a:rPr lang="ro-RO" dirty="0">
                <a:solidFill>
                  <a:schemeClr val="bg1"/>
                </a:solidFill>
                <a:latin typeface="+mj-lt"/>
              </a:rPr>
              <a:t> </a:t>
            </a:r>
            <a:r>
              <a:rPr lang="ro-RO" dirty="0" err="1">
                <a:solidFill>
                  <a:schemeClr val="bg1"/>
                </a:solidFill>
                <a:latin typeface="+mj-lt"/>
              </a:rPr>
              <a:t>Integration</a:t>
            </a:r>
            <a:endParaRPr lang="ro-RO" dirty="0">
              <a:solidFill>
                <a:schemeClr val="bg1"/>
              </a:solidFill>
              <a:latin typeface="+mj-lt"/>
            </a:endParaRPr>
          </a:p>
        </p:txBody>
      </p:sp>
    </p:spTree>
    <p:extLst>
      <p:ext uri="{BB962C8B-B14F-4D97-AF65-F5344CB8AC3E}">
        <p14:creationId xmlns:p14="http://schemas.microsoft.com/office/powerpoint/2010/main" val="13948263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pattFill prst="zigZag">
          <a:fgClr>
            <a:schemeClr val="accent3">
              <a:lumMod val="75000"/>
            </a:schemeClr>
          </a:fgClr>
          <a:bgClr>
            <a:schemeClr val="accent3">
              <a:lumMod val="50000"/>
            </a:schemeClr>
          </a:bgClr>
        </a:patt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62A21665-C64F-4BDA-B2DE-442D70605718}"/>
              </a:ext>
              <a:ext uri="{C183D7F6-B498-43B3-948B-1728B52AA6E4}">
                <adec:decorative xmlns:adec="http://schemas.microsoft.com/office/drawing/2017/decorative" val="1"/>
              </a:ext>
            </a:extLst>
          </p:cNvPr>
          <p:cNvGrpSpPr/>
          <p:nvPr/>
        </p:nvGrpSpPr>
        <p:grpSpPr>
          <a:xfrm>
            <a:off x="4325258" y="1544068"/>
            <a:ext cx="3541486" cy="3769865"/>
            <a:chOff x="4325258" y="1229517"/>
            <a:chExt cx="3541486" cy="3769865"/>
          </a:xfrm>
        </p:grpSpPr>
        <p:sp>
          <p:nvSpPr>
            <p:cNvPr id="12" name="Diamond 11">
              <a:extLst>
                <a:ext uri="{FF2B5EF4-FFF2-40B4-BE49-F238E27FC236}">
                  <a16:creationId xmlns:a16="http://schemas.microsoft.com/office/drawing/2014/main" id="{7DC8B409-5FAC-4539-B25A-26BE925A48AF}"/>
                </a:ext>
              </a:extLst>
            </p:cNvPr>
            <p:cNvSpPr/>
            <p:nvPr/>
          </p:nvSpPr>
          <p:spPr>
            <a:xfrm>
              <a:off x="4792319" y="2392018"/>
              <a:ext cx="2607364" cy="2607364"/>
            </a:xfrm>
            <a:prstGeom prst="diamond">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Diamond 12">
              <a:extLst>
                <a:ext uri="{FF2B5EF4-FFF2-40B4-BE49-F238E27FC236}">
                  <a16:creationId xmlns:a16="http://schemas.microsoft.com/office/drawing/2014/main" id="{91498E2F-539C-46D3-AF7C-BB1DAE76B114}"/>
                </a:ext>
              </a:extLst>
            </p:cNvPr>
            <p:cNvSpPr/>
            <p:nvPr/>
          </p:nvSpPr>
          <p:spPr>
            <a:xfrm>
              <a:off x="4325258" y="1229517"/>
              <a:ext cx="3541486" cy="3541486"/>
            </a:xfrm>
            <a:prstGeom prst="diamond">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5" name="Title 1">
            <a:extLst>
              <a:ext uri="{FF2B5EF4-FFF2-40B4-BE49-F238E27FC236}">
                <a16:creationId xmlns:a16="http://schemas.microsoft.com/office/drawing/2014/main" id="{FA061601-468D-486D-B8EE-42BD1BE3ADCC}"/>
              </a:ext>
            </a:extLst>
          </p:cNvPr>
          <p:cNvSpPr>
            <a:spLocks noGrp="1"/>
          </p:cNvSpPr>
          <p:nvPr>
            <p:ph type="ctrTitle"/>
          </p:nvPr>
        </p:nvSpPr>
        <p:spPr>
          <a:xfrm>
            <a:off x="1524000" y="2930403"/>
            <a:ext cx="9144000" cy="997196"/>
          </a:xfrm>
        </p:spPr>
        <p:txBody>
          <a:bodyPr lIns="0" tIns="0" rIns="0" bIns="0" anchor="ctr">
            <a:spAutoFit/>
          </a:bodyPr>
          <a:lstStyle/>
          <a:p>
            <a:r>
              <a:rPr lang="en-US" sz="7200" b="1" dirty="0">
                <a:solidFill>
                  <a:schemeClr val="bg1"/>
                </a:solidFill>
              </a:rPr>
              <a:t>Thank You</a:t>
            </a:r>
            <a:endParaRPr lang="en-US" sz="7200" dirty="0">
              <a:solidFill>
                <a:schemeClr val="accent4"/>
              </a:solidFill>
            </a:endParaRPr>
          </a:p>
        </p:txBody>
      </p:sp>
      <p:pic>
        <p:nvPicPr>
          <p:cNvPr id="6" name="Picture 5" descr="This image is an icon that says &quot;24Slides.&quot;">
            <a:hlinkClick r:id="rId3"/>
            <a:extLst>
              <a:ext uri="{FF2B5EF4-FFF2-40B4-BE49-F238E27FC236}">
                <a16:creationId xmlns:a16="http://schemas.microsoft.com/office/drawing/2014/main" id="{A86744F2-5246-4A0A-B119-35E7FB76A0D8}"/>
              </a:ext>
              <a:ext uri="{C183D7F6-B498-43B3-948B-1728B52AA6E4}">
                <adec:decorative xmlns:adec="http://schemas.microsoft.com/office/drawing/2017/decorative" val="0"/>
              </a:ext>
            </a:extLst>
          </p:cNvPr>
          <p:cNvPicPr>
            <a:picLocks noChangeAspect="1"/>
          </p:cNvPicPr>
          <p:nvPr/>
        </p:nvPicPr>
        <p:blipFill>
          <a:blip r:embed="rId4"/>
          <a:stretch>
            <a:fillRect/>
          </a:stretch>
        </p:blipFill>
        <p:spPr>
          <a:xfrm>
            <a:off x="5360332" y="5919419"/>
            <a:ext cx="1471335" cy="420363"/>
          </a:xfrm>
          <a:prstGeom prst="rect">
            <a:avLst/>
          </a:prstGeom>
          <a:effectLst/>
        </p:spPr>
      </p:pic>
    </p:spTree>
    <p:extLst>
      <p:ext uri="{BB962C8B-B14F-4D97-AF65-F5344CB8AC3E}">
        <p14:creationId xmlns:p14="http://schemas.microsoft.com/office/powerpoint/2010/main" val="1923038163"/>
      </p:ext>
    </p:extLst>
  </p:cSld>
  <p:clrMapOvr>
    <a:masterClrMapping/>
  </p:clrMapOvr>
</p:sld>
</file>

<file path=ppt/theme/theme1.xml><?xml version="1.0" encoding="utf-8"?>
<a:theme xmlns:a="http://schemas.openxmlformats.org/drawingml/2006/main" name="Office Theme">
  <a:themeElements>
    <a:clrScheme name="Custom 73">
      <a:dk1>
        <a:srgbClr val="000000"/>
      </a:dk1>
      <a:lt1>
        <a:sysClr val="window" lastClr="FFFFFF"/>
      </a:lt1>
      <a:dk2>
        <a:srgbClr val="585858"/>
      </a:dk2>
      <a:lt2>
        <a:srgbClr val="E3E3E3"/>
      </a:lt2>
      <a:accent1>
        <a:srgbClr val="E20613"/>
      </a:accent1>
      <a:accent2>
        <a:srgbClr val="A9C038"/>
      </a:accent2>
      <a:accent3>
        <a:srgbClr val="11AEC7"/>
      </a:accent3>
      <a:accent4>
        <a:srgbClr val="F59F26"/>
      </a:accent4>
      <a:accent5>
        <a:srgbClr val="0062A9"/>
      </a:accent5>
      <a:accent6>
        <a:srgbClr val="EB6047"/>
      </a:accent6>
      <a:hlink>
        <a:srgbClr val="8ED9F6"/>
      </a:hlink>
      <a:folHlink>
        <a:srgbClr val="C00000"/>
      </a:folHlink>
    </a:clrScheme>
    <a:fontScheme name="Modern 01">
      <a:majorFont>
        <a:latin typeface="Century Gothic"/>
        <a:ea typeface=""/>
        <a:cs typeface=""/>
      </a:majorFont>
      <a:minorFont>
        <a:latin typeface="Segoe U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78455520_Project analysis, from 24Slides_SL_V1.potx" id="{55E7247F-78B2-40DB-9AFE-D4DD42FA8F09}" vid="{22E2FD65-A32D-4798-AF43-CE42F250BDD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61A00BBF-EEBB-4E18-B8CB-F926EAAC48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FD05317-60D6-4B3A-8545-888496D1A8EC}">
  <ds:schemaRefs>
    <ds:schemaRef ds:uri="http://schemas.microsoft.com/sharepoint/v3/contenttype/forms"/>
  </ds:schemaRefs>
</ds:datastoreItem>
</file>

<file path=customXml/itemProps3.xml><?xml version="1.0" encoding="utf-8"?>
<ds:datastoreItem xmlns:ds="http://schemas.openxmlformats.org/officeDocument/2006/customXml" ds:itemID="{EF609EDA-869E-4BE5-AE5D-B898C584B6FF}">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Project analysis, from 24Slides</Template>
  <TotalTime>694</TotalTime>
  <Words>715</Words>
  <Application>Microsoft Office PowerPoint</Application>
  <PresentationFormat>Ecran lat</PresentationFormat>
  <Paragraphs>142</Paragraphs>
  <Slides>17</Slides>
  <Notes>17</Notes>
  <HiddenSlides>0</HiddenSlides>
  <MMClips>0</MMClips>
  <ScaleCrop>false</ScaleCrop>
  <HeadingPairs>
    <vt:vector size="6" baseType="variant">
      <vt:variant>
        <vt:lpstr>Fonturi utilizate</vt:lpstr>
      </vt:variant>
      <vt:variant>
        <vt:i4>4</vt:i4>
      </vt:variant>
      <vt:variant>
        <vt:lpstr>Temă</vt:lpstr>
      </vt:variant>
      <vt:variant>
        <vt:i4>1</vt:i4>
      </vt:variant>
      <vt:variant>
        <vt:lpstr>Titluri diapozitive</vt:lpstr>
      </vt:variant>
      <vt:variant>
        <vt:i4>17</vt:i4>
      </vt:variant>
    </vt:vector>
  </HeadingPairs>
  <TitlesOfParts>
    <vt:vector size="22" baseType="lpstr">
      <vt:lpstr>Arial</vt:lpstr>
      <vt:lpstr>Calibri</vt:lpstr>
      <vt:lpstr>Century Gothic</vt:lpstr>
      <vt:lpstr>Segoe UI Light</vt:lpstr>
      <vt:lpstr>Office Theme</vt:lpstr>
      <vt:lpstr>Central Door Locking Training Bitoleanu Eugen Andrei Eduard</vt:lpstr>
      <vt:lpstr>Project analysis slide 3</vt:lpstr>
      <vt:lpstr>Project analysis slide 4</vt:lpstr>
      <vt:lpstr>Project analysis slide 4</vt:lpstr>
      <vt:lpstr>Project analysis slide 4</vt:lpstr>
      <vt:lpstr>Project analysis slide 4</vt:lpstr>
      <vt:lpstr>Project analysis slide 4</vt:lpstr>
      <vt:lpstr>Project analysis slide 4</vt:lpstr>
      <vt:lpstr>Project analysis slide 4</vt:lpstr>
      <vt:lpstr>Project analysis slide 4</vt:lpstr>
      <vt:lpstr>Project analysis slide 4</vt:lpstr>
      <vt:lpstr>Project analysis slide 4</vt:lpstr>
      <vt:lpstr>Project analysis slide 4</vt:lpstr>
      <vt:lpstr>Project analysis slide 4</vt:lpstr>
      <vt:lpstr>Project analysis slide 4</vt:lpstr>
      <vt:lpstr>Project analysis slide 4</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Central Door Locking Training Boana Tudor Stefan Bitoleanu Eugen Andrei Eduard</dc:title>
  <dc:creator>Tudor Stefan</dc:creator>
  <cp:lastModifiedBy>Andrei Bitoleanu</cp:lastModifiedBy>
  <cp:revision>8</cp:revision>
  <dcterms:created xsi:type="dcterms:W3CDTF">2025-07-29T10:08:41Z</dcterms:created>
  <dcterms:modified xsi:type="dcterms:W3CDTF">2026-10-13T12:32:44Z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